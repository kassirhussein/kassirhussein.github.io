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60" r:id="rId2"/>
    <p:sldId id="270" r:id="rId3"/>
    <p:sldId id="271" r:id="rId4"/>
    <p:sldId id="278" r:id="rId5"/>
    <p:sldId id="281" r:id="rId6"/>
    <p:sldId id="279" r:id="rId7"/>
    <p:sldId id="282" r:id="rId8"/>
    <p:sldId id="283" r:id="rId9"/>
    <p:sldId id="284" r:id="rId10"/>
    <p:sldId id="287" r:id="rId11"/>
    <p:sldId id="285" r:id="rId12"/>
    <p:sldId id="280" r:id="rId13"/>
    <p:sldId id="277" r:id="rId14"/>
    <p:sldId id="286" r:id="rId15"/>
    <p:sldId id="261" r:id="rId16"/>
    <p:sldId id="264" r:id="rId17"/>
    <p:sldId id="266" r:id="rId18"/>
    <p:sldId id="291" r:id="rId19"/>
    <p:sldId id="292" r:id="rId20"/>
    <p:sldId id="288" r:id="rId21"/>
    <p:sldId id="293" r:id="rId22"/>
    <p:sldId id="294" r:id="rId23"/>
    <p:sldId id="296" r:id="rId24"/>
    <p:sldId id="295" r:id="rId25"/>
    <p:sldId id="290" r:id="rId26"/>
    <p:sldId id="297" r:id="rId27"/>
    <p:sldId id="298" r:id="rId28"/>
    <p:sldId id="301" r:id="rId29"/>
    <p:sldId id="302" r:id="rId30"/>
    <p:sldId id="304" r:id="rId31"/>
    <p:sldId id="303" r:id="rId32"/>
    <p:sldId id="305" r:id="rId33"/>
    <p:sldId id="306" r:id="rId34"/>
    <p:sldId id="30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70E3B72-6B2E-47A9-9CF9-979956759CA2}">
          <p14:sldIdLst>
            <p14:sldId id="260"/>
          </p14:sldIdLst>
        </p14:section>
        <p14:section name="Project 2" id="{CF0A1ED6-89C4-47E3-9128-14DCC781D1FB}">
          <p14:sldIdLst>
            <p14:sldId id="270"/>
            <p14:sldId id="271"/>
            <p14:sldId id="278"/>
            <p14:sldId id="281"/>
            <p14:sldId id="279"/>
            <p14:sldId id="282"/>
            <p14:sldId id="283"/>
            <p14:sldId id="284"/>
            <p14:sldId id="287"/>
            <p14:sldId id="285"/>
            <p14:sldId id="280"/>
            <p14:sldId id="277"/>
            <p14:sldId id="286"/>
            <p14:sldId id="261"/>
            <p14:sldId id="264"/>
            <p14:sldId id="266"/>
            <p14:sldId id="291"/>
            <p14:sldId id="292"/>
            <p14:sldId id="288"/>
            <p14:sldId id="293"/>
            <p14:sldId id="294"/>
            <p14:sldId id="296"/>
            <p14:sldId id="295"/>
            <p14:sldId id="290"/>
            <p14:sldId id="297"/>
            <p14:sldId id="298"/>
            <p14:sldId id="301"/>
            <p14:sldId id="302"/>
            <p14:sldId id="304"/>
            <p14:sldId id="303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397D"/>
    <a:srgbClr val="FFFFFF"/>
    <a:srgbClr val="7E03A8"/>
    <a:srgbClr val="0D0887"/>
    <a:srgbClr val="F0F921"/>
    <a:srgbClr val="CC4678"/>
    <a:srgbClr val="F89441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9" autoAdjust="0"/>
    <p:restoredTop sz="84053" autoAdjust="0"/>
  </p:normalViewPr>
  <p:slideViewPr>
    <p:cSldViewPr snapToGrid="0">
      <p:cViewPr varScale="1">
        <p:scale>
          <a:sx n="58" d="100"/>
          <a:sy n="58" d="100"/>
        </p:scale>
        <p:origin x="10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15FA0A-2785-45DB-9E79-BA40DEB54F88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946C136-D66A-4568-B8B4-C47BC22A4CC8}">
      <dgm:prSet phldrT="[Text]"/>
      <dgm:spPr/>
      <dgm:t>
        <a:bodyPr/>
        <a:lstStyle/>
        <a:p>
          <a:r>
            <a:rPr lang="en-GB" dirty="0"/>
            <a:t>How can it help in Drug Development</a:t>
          </a:r>
        </a:p>
      </dgm:t>
    </dgm:pt>
    <dgm:pt modelId="{CF93FB45-BF75-46B2-951B-95F4C825DB51}" type="parTrans" cxnId="{8D76EEF0-FACA-4D35-A2BA-E7375B940EF1}">
      <dgm:prSet/>
      <dgm:spPr/>
      <dgm:t>
        <a:bodyPr/>
        <a:lstStyle/>
        <a:p>
          <a:endParaRPr lang="en-GB"/>
        </a:p>
      </dgm:t>
    </dgm:pt>
    <dgm:pt modelId="{EB3B2E3F-5229-4B13-99B6-39F13C7B8C73}" type="sibTrans" cxnId="{8D76EEF0-FACA-4D35-A2BA-E7375B940EF1}">
      <dgm:prSet/>
      <dgm:spPr/>
      <dgm:t>
        <a:bodyPr/>
        <a:lstStyle/>
        <a:p>
          <a:endParaRPr lang="en-GB"/>
        </a:p>
      </dgm:t>
    </dgm:pt>
    <dgm:pt modelId="{59EAF9B4-0628-4125-83CC-96E34BC32986}">
      <dgm:prSet phldrT="[Text]"/>
      <dgm:spPr/>
      <dgm:t>
        <a:bodyPr/>
        <a:lstStyle/>
        <a:p>
          <a:r>
            <a:rPr lang="en-GB" dirty="0"/>
            <a:t>Gene Essentiality</a:t>
          </a:r>
        </a:p>
      </dgm:t>
    </dgm:pt>
    <dgm:pt modelId="{99D1B6DC-7368-4CF0-B7FF-6C997C5EA2C3}" type="parTrans" cxnId="{605E5342-C2CB-4741-B06C-5FDBD5A23898}">
      <dgm:prSet/>
      <dgm:spPr/>
      <dgm:t>
        <a:bodyPr/>
        <a:lstStyle/>
        <a:p>
          <a:endParaRPr lang="en-GB"/>
        </a:p>
      </dgm:t>
    </dgm:pt>
    <dgm:pt modelId="{E6D180D2-D48D-43A5-869A-DFFFAA29E36E}" type="sibTrans" cxnId="{605E5342-C2CB-4741-B06C-5FDBD5A23898}">
      <dgm:prSet/>
      <dgm:spPr/>
      <dgm:t>
        <a:bodyPr/>
        <a:lstStyle/>
        <a:p>
          <a:endParaRPr lang="en-GB"/>
        </a:p>
      </dgm:t>
    </dgm:pt>
    <dgm:pt modelId="{0DD1F466-A4D4-4E83-891C-25523A942C81}">
      <dgm:prSet phldrT="[Text]"/>
      <dgm:spPr/>
      <dgm:t>
        <a:bodyPr/>
        <a:lstStyle/>
        <a:p>
          <a:r>
            <a:rPr lang="en-GB" dirty="0"/>
            <a:t>Drug Target Validation</a:t>
          </a:r>
        </a:p>
      </dgm:t>
    </dgm:pt>
    <dgm:pt modelId="{2FAC9868-1C62-40F0-A21C-56FEE9E09902}" type="parTrans" cxnId="{6C7AFCB2-225F-4966-8992-71C7FB7A748F}">
      <dgm:prSet/>
      <dgm:spPr/>
      <dgm:t>
        <a:bodyPr/>
        <a:lstStyle/>
        <a:p>
          <a:endParaRPr lang="en-GB"/>
        </a:p>
      </dgm:t>
    </dgm:pt>
    <dgm:pt modelId="{397701DF-CB86-46BB-89CE-546C7FA322BB}" type="sibTrans" cxnId="{6C7AFCB2-225F-4966-8992-71C7FB7A748F}">
      <dgm:prSet/>
      <dgm:spPr/>
      <dgm:t>
        <a:bodyPr/>
        <a:lstStyle/>
        <a:p>
          <a:endParaRPr lang="en-GB"/>
        </a:p>
      </dgm:t>
    </dgm:pt>
    <dgm:pt modelId="{E503C30D-7244-4897-AC20-0B0AA3CC3FDB}">
      <dgm:prSet phldrT="[Text]"/>
      <dgm:spPr/>
      <dgm:t>
        <a:bodyPr/>
        <a:lstStyle/>
        <a:p>
          <a:r>
            <a:rPr lang="en-GB" dirty="0"/>
            <a:t>Drug Target Stratification</a:t>
          </a:r>
        </a:p>
      </dgm:t>
    </dgm:pt>
    <dgm:pt modelId="{68970239-1482-4369-97F1-0B075739CD2B}" type="parTrans" cxnId="{1E9CCC14-7D2B-4E43-80F8-852716F6EA7D}">
      <dgm:prSet/>
      <dgm:spPr/>
      <dgm:t>
        <a:bodyPr/>
        <a:lstStyle/>
        <a:p>
          <a:endParaRPr lang="en-GB"/>
        </a:p>
      </dgm:t>
    </dgm:pt>
    <dgm:pt modelId="{E8EEDD60-5DAB-464A-884D-6D8D67A23D40}" type="sibTrans" cxnId="{1E9CCC14-7D2B-4E43-80F8-852716F6EA7D}">
      <dgm:prSet/>
      <dgm:spPr/>
      <dgm:t>
        <a:bodyPr/>
        <a:lstStyle/>
        <a:p>
          <a:endParaRPr lang="en-GB"/>
        </a:p>
      </dgm:t>
    </dgm:pt>
    <dgm:pt modelId="{1018F7B1-19BB-4B15-B5A2-77EC70F1FD52}">
      <dgm:prSet phldrT="[Text]"/>
      <dgm:spPr/>
      <dgm:t>
        <a:bodyPr/>
        <a:lstStyle/>
        <a:p>
          <a:r>
            <a:rPr lang="en-GB" dirty="0"/>
            <a:t>Paralogy</a:t>
          </a:r>
        </a:p>
      </dgm:t>
    </dgm:pt>
    <dgm:pt modelId="{1789D4DB-D359-43E4-A664-EEDBB7A57EBA}" type="parTrans" cxnId="{9DD0949B-2A60-4082-A469-E5FA671E3B57}">
      <dgm:prSet/>
      <dgm:spPr/>
      <dgm:t>
        <a:bodyPr/>
        <a:lstStyle/>
        <a:p>
          <a:endParaRPr lang="en-GB"/>
        </a:p>
      </dgm:t>
    </dgm:pt>
    <dgm:pt modelId="{4A3F9060-6E36-4CC0-939D-2C90ECAFE906}" type="sibTrans" cxnId="{9DD0949B-2A60-4082-A469-E5FA671E3B57}">
      <dgm:prSet/>
      <dgm:spPr/>
      <dgm:t>
        <a:bodyPr/>
        <a:lstStyle/>
        <a:p>
          <a:endParaRPr lang="en-GB"/>
        </a:p>
      </dgm:t>
    </dgm:pt>
    <dgm:pt modelId="{5F7E55C8-986E-4B39-8545-96928EAB4A23}">
      <dgm:prSet phldrT="[Text]"/>
      <dgm:spPr/>
      <dgm:t>
        <a:bodyPr/>
        <a:lstStyle/>
        <a:p>
          <a:r>
            <a:rPr lang="en-GB" dirty="0"/>
            <a:t>Side Effects prediction</a:t>
          </a:r>
        </a:p>
      </dgm:t>
    </dgm:pt>
    <dgm:pt modelId="{D29AF080-5BA5-4E1D-BF71-A1A102F814EF}" type="parTrans" cxnId="{52901B8D-0321-476F-8E1B-87BD86CFE864}">
      <dgm:prSet/>
      <dgm:spPr/>
      <dgm:t>
        <a:bodyPr/>
        <a:lstStyle/>
        <a:p>
          <a:endParaRPr lang="en-GB"/>
        </a:p>
      </dgm:t>
    </dgm:pt>
    <dgm:pt modelId="{BAA582AD-C2D6-46C5-936F-F8596A4928BC}" type="sibTrans" cxnId="{52901B8D-0321-476F-8E1B-87BD86CFE864}">
      <dgm:prSet/>
      <dgm:spPr/>
      <dgm:t>
        <a:bodyPr/>
        <a:lstStyle/>
        <a:p>
          <a:endParaRPr lang="en-GB"/>
        </a:p>
      </dgm:t>
    </dgm:pt>
    <dgm:pt modelId="{5BBA077D-77CD-43AE-8FA8-0BADA8CC3B42}" type="pres">
      <dgm:prSet presAssocID="{1015FA0A-2785-45DB-9E79-BA40DEB54F8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6C0990E-63B1-4BA9-89BD-86C30A36AE5D}" type="pres">
      <dgm:prSet presAssocID="{1015FA0A-2785-45DB-9E79-BA40DEB54F88}" presName="hierFlow" presStyleCnt="0"/>
      <dgm:spPr/>
    </dgm:pt>
    <dgm:pt modelId="{93274975-47E8-4B44-8327-B477A02C16BF}" type="pres">
      <dgm:prSet presAssocID="{1015FA0A-2785-45DB-9E79-BA40DEB54F8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7FF6191-1140-495D-B838-C9695B6C4585}" type="pres">
      <dgm:prSet presAssocID="{E946C136-D66A-4568-B8B4-C47BC22A4CC8}" presName="Name14" presStyleCnt="0"/>
      <dgm:spPr/>
    </dgm:pt>
    <dgm:pt modelId="{806DE382-CAA5-4C0C-B548-4664F1E49E45}" type="pres">
      <dgm:prSet presAssocID="{E946C136-D66A-4568-B8B4-C47BC22A4CC8}" presName="level1Shape" presStyleLbl="node0" presStyleIdx="0" presStyleCnt="1">
        <dgm:presLayoutVars>
          <dgm:chPref val="3"/>
        </dgm:presLayoutVars>
      </dgm:prSet>
      <dgm:spPr/>
    </dgm:pt>
    <dgm:pt modelId="{2296E280-3927-4DE0-AE1F-251BAA880764}" type="pres">
      <dgm:prSet presAssocID="{E946C136-D66A-4568-B8B4-C47BC22A4CC8}" presName="hierChild2" presStyleCnt="0"/>
      <dgm:spPr/>
    </dgm:pt>
    <dgm:pt modelId="{DEED3EF4-C1DF-4826-9849-F50A6A6FDCF8}" type="pres">
      <dgm:prSet presAssocID="{99D1B6DC-7368-4CF0-B7FF-6C997C5EA2C3}" presName="Name19" presStyleLbl="parChTrans1D2" presStyleIdx="0" presStyleCnt="2"/>
      <dgm:spPr/>
    </dgm:pt>
    <dgm:pt modelId="{65861715-B1E5-4C9B-B0D2-50FAE84152C3}" type="pres">
      <dgm:prSet presAssocID="{59EAF9B4-0628-4125-83CC-96E34BC32986}" presName="Name21" presStyleCnt="0"/>
      <dgm:spPr/>
    </dgm:pt>
    <dgm:pt modelId="{B3A7B640-0AEA-4E4F-94D8-25F97C991A44}" type="pres">
      <dgm:prSet presAssocID="{59EAF9B4-0628-4125-83CC-96E34BC32986}" presName="level2Shape" presStyleLbl="node2" presStyleIdx="0" presStyleCnt="2"/>
      <dgm:spPr/>
    </dgm:pt>
    <dgm:pt modelId="{39E9F86A-2257-4CD6-95F4-031B8A99B175}" type="pres">
      <dgm:prSet presAssocID="{59EAF9B4-0628-4125-83CC-96E34BC32986}" presName="hierChild3" presStyleCnt="0"/>
      <dgm:spPr/>
    </dgm:pt>
    <dgm:pt modelId="{B95A0038-969A-416C-9713-5B64EF064769}" type="pres">
      <dgm:prSet presAssocID="{2FAC9868-1C62-40F0-A21C-56FEE9E09902}" presName="Name19" presStyleLbl="parChTrans1D3" presStyleIdx="0" presStyleCnt="3"/>
      <dgm:spPr/>
    </dgm:pt>
    <dgm:pt modelId="{ED7B1512-5167-4102-B703-7B860BBA3255}" type="pres">
      <dgm:prSet presAssocID="{0DD1F466-A4D4-4E83-891C-25523A942C81}" presName="Name21" presStyleCnt="0"/>
      <dgm:spPr/>
    </dgm:pt>
    <dgm:pt modelId="{1898FB8C-355A-460F-874C-9AF70FAB1CE5}" type="pres">
      <dgm:prSet presAssocID="{0DD1F466-A4D4-4E83-891C-25523A942C81}" presName="level2Shape" presStyleLbl="node3" presStyleIdx="0" presStyleCnt="3"/>
      <dgm:spPr/>
    </dgm:pt>
    <dgm:pt modelId="{36AC8569-E8AC-409A-BBD9-B2B9495F9D30}" type="pres">
      <dgm:prSet presAssocID="{0DD1F466-A4D4-4E83-891C-25523A942C81}" presName="hierChild3" presStyleCnt="0"/>
      <dgm:spPr/>
    </dgm:pt>
    <dgm:pt modelId="{90F54293-924F-43AD-B58F-C32892D14B17}" type="pres">
      <dgm:prSet presAssocID="{68970239-1482-4369-97F1-0B075739CD2B}" presName="Name19" presStyleLbl="parChTrans1D3" presStyleIdx="1" presStyleCnt="3"/>
      <dgm:spPr/>
    </dgm:pt>
    <dgm:pt modelId="{830BF435-46A6-432F-8826-12570B7A3740}" type="pres">
      <dgm:prSet presAssocID="{E503C30D-7244-4897-AC20-0B0AA3CC3FDB}" presName="Name21" presStyleCnt="0"/>
      <dgm:spPr/>
    </dgm:pt>
    <dgm:pt modelId="{412A6939-FC10-4000-A6D4-3FC03CE04C09}" type="pres">
      <dgm:prSet presAssocID="{E503C30D-7244-4897-AC20-0B0AA3CC3FDB}" presName="level2Shape" presStyleLbl="node3" presStyleIdx="1" presStyleCnt="3"/>
      <dgm:spPr/>
    </dgm:pt>
    <dgm:pt modelId="{4B5A78BF-A4F0-4285-9F0C-B3EAC5706778}" type="pres">
      <dgm:prSet presAssocID="{E503C30D-7244-4897-AC20-0B0AA3CC3FDB}" presName="hierChild3" presStyleCnt="0"/>
      <dgm:spPr/>
    </dgm:pt>
    <dgm:pt modelId="{28BA9CFB-F8C5-4C70-858A-FFC248FEAE47}" type="pres">
      <dgm:prSet presAssocID="{1789D4DB-D359-43E4-A664-EEDBB7A57EBA}" presName="Name19" presStyleLbl="parChTrans1D2" presStyleIdx="1" presStyleCnt="2"/>
      <dgm:spPr/>
    </dgm:pt>
    <dgm:pt modelId="{BEA89AAD-5539-42A3-A87D-A4EFA5D0E83E}" type="pres">
      <dgm:prSet presAssocID="{1018F7B1-19BB-4B15-B5A2-77EC70F1FD52}" presName="Name21" presStyleCnt="0"/>
      <dgm:spPr/>
    </dgm:pt>
    <dgm:pt modelId="{A14A1780-4B24-47EE-B086-8BE244C5C3E2}" type="pres">
      <dgm:prSet presAssocID="{1018F7B1-19BB-4B15-B5A2-77EC70F1FD52}" presName="level2Shape" presStyleLbl="node2" presStyleIdx="1" presStyleCnt="2"/>
      <dgm:spPr/>
    </dgm:pt>
    <dgm:pt modelId="{46B71FD3-81CA-4525-91BB-1E048373E814}" type="pres">
      <dgm:prSet presAssocID="{1018F7B1-19BB-4B15-B5A2-77EC70F1FD52}" presName="hierChild3" presStyleCnt="0"/>
      <dgm:spPr/>
    </dgm:pt>
    <dgm:pt modelId="{633AA526-9BE3-49E7-A02F-15271644FD71}" type="pres">
      <dgm:prSet presAssocID="{D29AF080-5BA5-4E1D-BF71-A1A102F814EF}" presName="Name19" presStyleLbl="parChTrans1D3" presStyleIdx="2" presStyleCnt="3"/>
      <dgm:spPr/>
    </dgm:pt>
    <dgm:pt modelId="{FFB560EE-632B-460A-9921-C68A311E0DEE}" type="pres">
      <dgm:prSet presAssocID="{5F7E55C8-986E-4B39-8545-96928EAB4A23}" presName="Name21" presStyleCnt="0"/>
      <dgm:spPr/>
    </dgm:pt>
    <dgm:pt modelId="{1AE4783A-1E23-40CC-B4B0-2AFE73EB56C0}" type="pres">
      <dgm:prSet presAssocID="{5F7E55C8-986E-4B39-8545-96928EAB4A23}" presName="level2Shape" presStyleLbl="node3" presStyleIdx="2" presStyleCnt="3"/>
      <dgm:spPr/>
    </dgm:pt>
    <dgm:pt modelId="{1C3ABB0C-3271-4032-B588-8E770B5309AF}" type="pres">
      <dgm:prSet presAssocID="{5F7E55C8-986E-4B39-8545-96928EAB4A23}" presName="hierChild3" presStyleCnt="0"/>
      <dgm:spPr/>
    </dgm:pt>
    <dgm:pt modelId="{B5782F1F-A316-458F-AFD2-959C9D306AEF}" type="pres">
      <dgm:prSet presAssocID="{1015FA0A-2785-45DB-9E79-BA40DEB54F88}" presName="bgShapesFlow" presStyleCnt="0"/>
      <dgm:spPr/>
    </dgm:pt>
  </dgm:ptLst>
  <dgm:cxnLst>
    <dgm:cxn modelId="{1E9CCC14-7D2B-4E43-80F8-852716F6EA7D}" srcId="{59EAF9B4-0628-4125-83CC-96E34BC32986}" destId="{E503C30D-7244-4897-AC20-0B0AA3CC3FDB}" srcOrd="1" destOrd="0" parTransId="{68970239-1482-4369-97F1-0B075739CD2B}" sibTransId="{E8EEDD60-5DAB-464A-884D-6D8D67A23D40}"/>
    <dgm:cxn modelId="{B0E44E27-48ED-47EE-9D42-CC1D94EA2C3F}" type="presOf" srcId="{E503C30D-7244-4897-AC20-0B0AA3CC3FDB}" destId="{412A6939-FC10-4000-A6D4-3FC03CE04C09}" srcOrd="0" destOrd="0" presId="urn:microsoft.com/office/officeart/2005/8/layout/hierarchy6"/>
    <dgm:cxn modelId="{70ADBF3F-9117-4BF5-8253-8E5FE233C4AD}" type="presOf" srcId="{0DD1F466-A4D4-4E83-891C-25523A942C81}" destId="{1898FB8C-355A-460F-874C-9AF70FAB1CE5}" srcOrd="0" destOrd="0" presId="urn:microsoft.com/office/officeart/2005/8/layout/hierarchy6"/>
    <dgm:cxn modelId="{605E5342-C2CB-4741-B06C-5FDBD5A23898}" srcId="{E946C136-D66A-4568-B8B4-C47BC22A4CC8}" destId="{59EAF9B4-0628-4125-83CC-96E34BC32986}" srcOrd="0" destOrd="0" parTransId="{99D1B6DC-7368-4CF0-B7FF-6C997C5EA2C3}" sibTransId="{E6D180D2-D48D-43A5-869A-DFFFAA29E36E}"/>
    <dgm:cxn modelId="{129BDE44-D3C9-463D-87AB-04269FBC3A23}" type="presOf" srcId="{1015FA0A-2785-45DB-9E79-BA40DEB54F88}" destId="{5BBA077D-77CD-43AE-8FA8-0BADA8CC3B42}" srcOrd="0" destOrd="0" presId="urn:microsoft.com/office/officeart/2005/8/layout/hierarchy6"/>
    <dgm:cxn modelId="{FA16FF4E-C1A6-4B2F-A9D6-BF96A5523E27}" type="presOf" srcId="{5F7E55C8-986E-4B39-8545-96928EAB4A23}" destId="{1AE4783A-1E23-40CC-B4B0-2AFE73EB56C0}" srcOrd="0" destOrd="0" presId="urn:microsoft.com/office/officeart/2005/8/layout/hierarchy6"/>
    <dgm:cxn modelId="{0A0FFC5A-3F32-4495-A859-C68D0AB29A01}" type="presOf" srcId="{E946C136-D66A-4568-B8B4-C47BC22A4CC8}" destId="{806DE382-CAA5-4C0C-B548-4664F1E49E45}" srcOrd="0" destOrd="0" presId="urn:microsoft.com/office/officeart/2005/8/layout/hierarchy6"/>
    <dgm:cxn modelId="{AF344F80-181C-4432-8117-4336FC2E85D3}" type="presOf" srcId="{1018F7B1-19BB-4B15-B5A2-77EC70F1FD52}" destId="{A14A1780-4B24-47EE-B086-8BE244C5C3E2}" srcOrd="0" destOrd="0" presId="urn:microsoft.com/office/officeart/2005/8/layout/hierarchy6"/>
    <dgm:cxn modelId="{52901B8D-0321-476F-8E1B-87BD86CFE864}" srcId="{1018F7B1-19BB-4B15-B5A2-77EC70F1FD52}" destId="{5F7E55C8-986E-4B39-8545-96928EAB4A23}" srcOrd="0" destOrd="0" parTransId="{D29AF080-5BA5-4E1D-BF71-A1A102F814EF}" sibTransId="{BAA582AD-C2D6-46C5-936F-F8596A4928BC}"/>
    <dgm:cxn modelId="{9B717E93-9530-47F3-A32F-45C91C8F981A}" type="presOf" srcId="{2FAC9868-1C62-40F0-A21C-56FEE9E09902}" destId="{B95A0038-969A-416C-9713-5B64EF064769}" srcOrd="0" destOrd="0" presId="urn:microsoft.com/office/officeart/2005/8/layout/hierarchy6"/>
    <dgm:cxn modelId="{9DD0949B-2A60-4082-A469-E5FA671E3B57}" srcId="{E946C136-D66A-4568-B8B4-C47BC22A4CC8}" destId="{1018F7B1-19BB-4B15-B5A2-77EC70F1FD52}" srcOrd="1" destOrd="0" parTransId="{1789D4DB-D359-43E4-A664-EEDBB7A57EBA}" sibTransId="{4A3F9060-6E36-4CC0-939D-2C90ECAFE906}"/>
    <dgm:cxn modelId="{392389AD-80A7-4CA7-8DA6-919C68E4E08A}" type="presOf" srcId="{1789D4DB-D359-43E4-A664-EEDBB7A57EBA}" destId="{28BA9CFB-F8C5-4C70-858A-FFC248FEAE47}" srcOrd="0" destOrd="0" presId="urn:microsoft.com/office/officeart/2005/8/layout/hierarchy6"/>
    <dgm:cxn modelId="{6C7AFCB2-225F-4966-8992-71C7FB7A748F}" srcId="{59EAF9B4-0628-4125-83CC-96E34BC32986}" destId="{0DD1F466-A4D4-4E83-891C-25523A942C81}" srcOrd="0" destOrd="0" parTransId="{2FAC9868-1C62-40F0-A21C-56FEE9E09902}" sibTransId="{397701DF-CB86-46BB-89CE-546C7FA322BB}"/>
    <dgm:cxn modelId="{5F41BBB8-2420-401B-9BF0-3FB996239404}" type="presOf" srcId="{68970239-1482-4369-97F1-0B075739CD2B}" destId="{90F54293-924F-43AD-B58F-C32892D14B17}" srcOrd="0" destOrd="0" presId="urn:microsoft.com/office/officeart/2005/8/layout/hierarchy6"/>
    <dgm:cxn modelId="{A46761C0-4378-49AC-B162-A26B0450B2EC}" type="presOf" srcId="{59EAF9B4-0628-4125-83CC-96E34BC32986}" destId="{B3A7B640-0AEA-4E4F-94D8-25F97C991A44}" srcOrd="0" destOrd="0" presId="urn:microsoft.com/office/officeart/2005/8/layout/hierarchy6"/>
    <dgm:cxn modelId="{64E20EE8-6C8D-45DA-8F71-BCC4B6590D00}" type="presOf" srcId="{D29AF080-5BA5-4E1D-BF71-A1A102F814EF}" destId="{633AA526-9BE3-49E7-A02F-15271644FD71}" srcOrd="0" destOrd="0" presId="urn:microsoft.com/office/officeart/2005/8/layout/hierarchy6"/>
    <dgm:cxn modelId="{8D76EEF0-FACA-4D35-A2BA-E7375B940EF1}" srcId="{1015FA0A-2785-45DB-9E79-BA40DEB54F88}" destId="{E946C136-D66A-4568-B8B4-C47BC22A4CC8}" srcOrd="0" destOrd="0" parTransId="{CF93FB45-BF75-46B2-951B-95F4C825DB51}" sibTransId="{EB3B2E3F-5229-4B13-99B6-39F13C7B8C73}"/>
    <dgm:cxn modelId="{A577D9F6-7C5E-451F-BAC6-5095B7D14AF9}" type="presOf" srcId="{99D1B6DC-7368-4CF0-B7FF-6C997C5EA2C3}" destId="{DEED3EF4-C1DF-4826-9849-F50A6A6FDCF8}" srcOrd="0" destOrd="0" presId="urn:microsoft.com/office/officeart/2005/8/layout/hierarchy6"/>
    <dgm:cxn modelId="{CC582416-2DA5-4B40-9E9C-E50506056FB2}" type="presParOf" srcId="{5BBA077D-77CD-43AE-8FA8-0BADA8CC3B42}" destId="{A6C0990E-63B1-4BA9-89BD-86C30A36AE5D}" srcOrd="0" destOrd="0" presId="urn:microsoft.com/office/officeart/2005/8/layout/hierarchy6"/>
    <dgm:cxn modelId="{18353612-3DF2-4389-80CE-E35A7F41F6D3}" type="presParOf" srcId="{A6C0990E-63B1-4BA9-89BD-86C30A36AE5D}" destId="{93274975-47E8-4B44-8327-B477A02C16BF}" srcOrd="0" destOrd="0" presId="urn:microsoft.com/office/officeart/2005/8/layout/hierarchy6"/>
    <dgm:cxn modelId="{D0A8EEA5-FA57-41FA-B958-E72A03B9A078}" type="presParOf" srcId="{93274975-47E8-4B44-8327-B477A02C16BF}" destId="{37FF6191-1140-495D-B838-C9695B6C4585}" srcOrd="0" destOrd="0" presId="urn:microsoft.com/office/officeart/2005/8/layout/hierarchy6"/>
    <dgm:cxn modelId="{E735F336-B254-453E-A86A-08C5CD1B3B8C}" type="presParOf" srcId="{37FF6191-1140-495D-B838-C9695B6C4585}" destId="{806DE382-CAA5-4C0C-B548-4664F1E49E45}" srcOrd="0" destOrd="0" presId="urn:microsoft.com/office/officeart/2005/8/layout/hierarchy6"/>
    <dgm:cxn modelId="{3822F131-7C02-47C1-8BAC-FB8CB8C9F2F4}" type="presParOf" srcId="{37FF6191-1140-495D-B838-C9695B6C4585}" destId="{2296E280-3927-4DE0-AE1F-251BAA880764}" srcOrd="1" destOrd="0" presId="urn:microsoft.com/office/officeart/2005/8/layout/hierarchy6"/>
    <dgm:cxn modelId="{75AB3001-6AB0-4DB2-8387-B2F1BD4FB958}" type="presParOf" srcId="{2296E280-3927-4DE0-AE1F-251BAA880764}" destId="{DEED3EF4-C1DF-4826-9849-F50A6A6FDCF8}" srcOrd="0" destOrd="0" presId="urn:microsoft.com/office/officeart/2005/8/layout/hierarchy6"/>
    <dgm:cxn modelId="{0891CCCC-077B-4047-BA23-9382FD0B4376}" type="presParOf" srcId="{2296E280-3927-4DE0-AE1F-251BAA880764}" destId="{65861715-B1E5-4C9B-B0D2-50FAE84152C3}" srcOrd="1" destOrd="0" presId="urn:microsoft.com/office/officeart/2005/8/layout/hierarchy6"/>
    <dgm:cxn modelId="{866EC167-D66A-4E43-B441-040B0B76DD9A}" type="presParOf" srcId="{65861715-B1E5-4C9B-B0D2-50FAE84152C3}" destId="{B3A7B640-0AEA-4E4F-94D8-25F97C991A44}" srcOrd="0" destOrd="0" presId="urn:microsoft.com/office/officeart/2005/8/layout/hierarchy6"/>
    <dgm:cxn modelId="{BAA41C48-97CA-4BF7-BDD4-1BEF8DF1BEC0}" type="presParOf" srcId="{65861715-B1E5-4C9B-B0D2-50FAE84152C3}" destId="{39E9F86A-2257-4CD6-95F4-031B8A99B175}" srcOrd="1" destOrd="0" presId="urn:microsoft.com/office/officeart/2005/8/layout/hierarchy6"/>
    <dgm:cxn modelId="{2ABB70E9-B261-4BC4-982D-C625F182B60E}" type="presParOf" srcId="{39E9F86A-2257-4CD6-95F4-031B8A99B175}" destId="{B95A0038-969A-416C-9713-5B64EF064769}" srcOrd="0" destOrd="0" presId="urn:microsoft.com/office/officeart/2005/8/layout/hierarchy6"/>
    <dgm:cxn modelId="{68E9DA2E-85D4-4EEC-BF9C-1F65558C42E7}" type="presParOf" srcId="{39E9F86A-2257-4CD6-95F4-031B8A99B175}" destId="{ED7B1512-5167-4102-B703-7B860BBA3255}" srcOrd="1" destOrd="0" presId="urn:microsoft.com/office/officeart/2005/8/layout/hierarchy6"/>
    <dgm:cxn modelId="{4CD8F271-32A5-4B2F-BC71-85852BFA61A9}" type="presParOf" srcId="{ED7B1512-5167-4102-B703-7B860BBA3255}" destId="{1898FB8C-355A-460F-874C-9AF70FAB1CE5}" srcOrd="0" destOrd="0" presId="urn:microsoft.com/office/officeart/2005/8/layout/hierarchy6"/>
    <dgm:cxn modelId="{0C4E5E14-AFC4-49CA-A43E-BACB8C544193}" type="presParOf" srcId="{ED7B1512-5167-4102-B703-7B860BBA3255}" destId="{36AC8569-E8AC-409A-BBD9-B2B9495F9D30}" srcOrd="1" destOrd="0" presId="urn:microsoft.com/office/officeart/2005/8/layout/hierarchy6"/>
    <dgm:cxn modelId="{0033E7DB-547A-45CE-B6A6-952EE9F5D049}" type="presParOf" srcId="{39E9F86A-2257-4CD6-95F4-031B8A99B175}" destId="{90F54293-924F-43AD-B58F-C32892D14B17}" srcOrd="2" destOrd="0" presId="urn:microsoft.com/office/officeart/2005/8/layout/hierarchy6"/>
    <dgm:cxn modelId="{FD46703D-B8DF-43C5-8869-338028DB866D}" type="presParOf" srcId="{39E9F86A-2257-4CD6-95F4-031B8A99B175}" destId="{830BF435-46A6-432F-8826-12570B7A3740}" srcOrd="3" destOrd="0" presId="urn:microsoft.com/office/officeart/2005/8/layout/hierarchy6"/>
    <dgm:cxn modelId="{05FFD788-6D0E-4BB5-B925-16324A649BC7}" type="presParOf" srcId="{830BF435-46A6-432F-8826-12570B7A3740}" destId="{412A6939-FC10-4000-A6D4-3FC03CE04C09}" srcOrd="0" destOrd="0" presId="urn:microsoft.com/office/officeart/2005/8/layout/hierarchy6"/>
    <dgm:cxn modelId="{E6BF9C1B-63D3-4874-938D-87BA575D1E2A}" type="presParOf" srcId="{830BF435-46A6-432F-8826-12570B7A3740}" destId="{4B5A78BF-A4F0-4285-9F0C-B3EAC5706778}" srcOrd="1" destOrd="0" presId="urn:microsoft.com/office/officeart/2005/8/layout/hierarchy6"/>
    <dgm:cxn modelId="{E8DE6100-86D6-4BD5-9591-5ED68E1922FB}" type="presParOf" srcId="{2296E280-3927-4DE0-AE1F-251BAA880764}" destId="{28BA9CFB-F8C5-4C70-858A-FFC248FEAE47}" srcOrd="2" destOrd="0" presId="urn:microsoft.com/office/officeart/2005/8/layout/hierarchy6"/>
    <dgm:cxn modelId="{61578E6F-78E7-4C79-A878-ED77AD2B4292}" type="presParOf" srcId="{2296E280-3927-4DE0-AE1F-251BAA880764}" destId="{BEA89AAD-5539-42A3-A87D-A4EFA5D0E83E}" srcOrd="3" destOrd="0" presId="urn:microsoft.com/office/officeart/2005/8/layout/hierarchy6"/>
    <dgm:cxn modelId="{7F40EC1A-BA9E-4400-8EED-7AC9EB1CC06F}" type="presParOf" srcId="{BEA89AAD-5539-42A3-A87D-A4EFA5D0E83E}" destId="{A14A1780-4B24-47EE-B086-8BE244C5C3E2}" srcOrd="0" destOrd="0" presId="urn:microsoft.com/office/officeart/2005/8/layout/hierarchy6"/>
    <dgm:cxn modelId="{066B7E21-2134-4AFE-B7D4-CD964740E213}" type="presParOf" srcId="{BEA89AAD-5539-42A3-A87D-A4EFA5D0E83E}" destId="{46B71FD3-81CA-4525-91BB-1E048373E814}" srcOrd="1" destOrd="0" presId="urn:microsoft.com/office/officeart/2005/8/layout/hierarchy6"/>
    <dgm:cxn modelId="{CE660761-9AC2-4517-A0A8-87829B7F39EC}" type="presParOf" srcId="{46B71FD3-81CA-4525-91BB-1E048373E814}" destId="{633AA526-9BE3-49E7-A02F-15271644FD71}" srcOrd="0" destOrd="0" presId="urn:microsoft.com/office/officeart/2005/8/layout/hierarchy6"/>
    <dgm:cxn modelId="{8E193B57-5E73-4939-AB36-7ABD9235D961}" type="presParOf" srcId="{46B71FD3-81CA-4525-91BB-1E048373E814}" destId="{FFB560EE-632B-460A-9921-C68A311E0DEE}" srcOrd="1" destOrd="0" presId="urn:microsoft.com/office/officeart/2005/8/layout/hierarchy6"/>
    <dgm:cxn modelId="{7B145A80-2F42-4D55-BE46-B70620B53A02}" type="presParOf" srcId="{FFB560EE-632B-460A-9921-C68A311E0DEE}" destId="{1AE4783A-1E23-40CC-B4B0-2AFE73EB56C0}" srcOrd="0" destOrd="0" presId="urn:microsoft.com/office/officeart/2005/8/layout/hierarchy6"/>
    <dgm:cxn modelId="{7BD703D5-C8A2-4DD6-8B41-2E80AEF50BEF}" type="presParOf" srcId="{FFB560EE-632B-460A-9921-C68A311E0DEE}" destId="{1C3ABB0C-3271-4032-B588-8E770B5309AF}" srcOrd="1" destOrd="0" presId="urn:microsoft.com/office/officeart/2005/8/layout/hierarchy6"/>
    <dgm:cxn modelId="{B6D0B88D-0592-4EF6-9FD5-455B1D18F8D8}" type="presParOf" srcId="{5BBA077D-77CD-43AE-8FA8-0BADA8CC3B42}" destId="{B5782F1F-A316-458F-AFD2-959C9D306AEF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CFA585-5CC1-4269-B4B1-71A9806FCF8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D13ADD-E4F1-437E-A667-B43BC5CA32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Many disease terms mapped to multiple, different higher-level categories</a:t>
          </a:r>
        </a:p>
      </dgm:t>
    </dgm:pt>
    <dgm:pt modelId="{9CBABCB5-0B4B-443B-AD27-4EC85A9F17C7}" type="parTrans" cxnId="{66240AE9-5808-45A0-9419-8504EAB21071}">
      <dgm:prSet/>
      <dgm:spPr/>
      <dgm:t>
        <a:bodyPr/>
        <a:lstStyle/>
        <a:p>
          <a:endParaRPr lang="en-US"/>
        </a:p>
      </dgm:t>
    </dgm:pt>
    <dgm:pt modelId="{BC3D49E6-F254-42A6-AECD-36898EE13166}" type="sibTrans" cxnId="{66240AE9-5808-45A0-9419-8504EAB21071}">
      <dgm:prSet/>
      <dgm:spPr/>
      <dgm:t>
        <a:bodyPr/>
        <a:lstStyle/>
        <a:p>
          <a:endParaRPr lang="en-US"/>
        </a:p>
      </dgm:t>
    </dgm:pt>
    <dgm:pt modelId="{8CE05DD1-41D6-4041-8C93-F19921B401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Affects consistency with the analysis.</a:t>
          </a:r>
        </a:p>
      </dgm:t>
    </dgm:pt>
    <dgm:pt modelId="{AD3CADFB-783F-475F-8E80-58257483C4DB}" type="parTrans" cxnId="{82ECBF34-AAD1-4A49-A807-B12D7C77FB62}">
      <dgm:prSet/>
      <dgm:spPr/>
      <dgm:t>
        <a:bodyPr/>
        <a:lstStyle/>
        <a:p>
          <a:endParaRPr lang="en-US"/>
        </a:p>
      </dgm:t>
    </dgm:pt>
    <dgm:pt modelId="{CD8FB04E-9A78-4BB7-AFC6-AD97FEC3CFD3}" type="sibTrans" cxnId="{82ECBF34-AAD1-4A49-A807-B12D7C77FB62}">
      <dgm:prSet/>
      <dgm:spPr/>
      <dgm:t>
        <a:bodyPr/>
        <a:lstStyle/>
        <a:p>
          <a:endParaRPr lang="en-US"/>
        </a:p>
      </dgm:t>
    </dgm:pt>
    <dgm:pt modelId="{4FD9F582-9E4F-4041-8B63-2557D043E000}" type="pres">
      <dgm:prSet presAssocID="{55CFA585-5CC1-4269-B4B1-71A9806FCF83}" presName="root" presStyleCnt="0">
        <dgm:presLayoutVars>
          <dgm:dir/>
          <dgm:resizeHandles val="exact"/>
        </dgm:presLayoutVars>
      </dgm:prSet>
      <dgm:spPr/>
    </dgm:pt>
    <dgm:pt modelId="{AF24D2B6-E9AC-4EDB-93D2-5DBE39EB7C72}" type="pres">
      <dgm:prSet presAssocID="{ABD13ADD-E4F1-437E-A667-B43BC5CA32B6}" presName="compNode" presStyleCnt="0"/>
      <dgm:spPr/>
    </dgm:pt>
    <dgm:pt modelId="{D3F8F908-6897-4583-BE4D-51F74B039107}" type="pres">
      <dgm:prSet presAssocID="{ABD13ADD-E4F1-437E-A667-B43BC5CA32B6}" presName="bgRect" presStyleLbl="bgShp" presStyleIdx="0" presStyleCnt="2"/>
      <dgm:spPr/>
    </dgm:pt>
    <dgm:pt modelId="{583D167F-B02A-48D5-B365-054957C31C8E}" type="pres">
      <dgm:prSet presAssocID="{ABD13ADD-E4F1-437E-A667-B43BC5CA32B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F60A51C9-18FE-4EDC-95B9-AE4D06074F1C}" type="pres">
      <dgm:prSet presAssocID="{ABD13ADD-E4F1-437E-A667-B43BC5CA32B6}" presName="spaceRect" presStyleCnt="0"/>
      <dgm:spPr/>
    </dgm:pt>
    <dgm:pt modelId="{BA280EA0-F68F-4805-AE34-124799DB8B3C}" type="pres">
      <dgm:prSet presAssocID="{ABD13ADD-E4F1-437E-A667-B43BC5CA32B6}" presName="parTx" presStyleLbl="revTx" presStyleIdx="0" presStyleCnt="2">
        <dgm:presLayoutVars>
          <dgm:chMax val="0"/>
          <dgm:chPref val="0"/>
        </dgm:presLayoutVars>
      </dgm:prSet>
      <dgm:spPr/>
    </dgm:pt>
    <dgm:pt modelId="{7CB2B475-D970-4320-822D-81DEE122C72F}" type="pres">
      <dgm:prSet presAssocID="{BC3D49E6-F254-42A6-AECD-36898EE13166}" presName="sibTrans" presStyleCnt="0"/>
      <dgm:spPr/>
    </dgm:pt>
    <dgm:pt modelId="{5C366CC6-F865-4E5F-B869-713F180EA7D7}" type="pres">
      <dgm:prSet presAssocID="{8CE05DD1-41D6-4041-8C93-F19921B401D8}" presName="compNode" presStyleCnt="0"/>
      <dgm:spPr/>
    </dgm:pt>
    <dgm:pt modelId="{004B97A9-2DCE-4482-82B6-6932281071E7}" type="pres">
      <dgm:prSet presAssocID="{8CE05DD1-41D6-4041-8C93-F19921B401D8}" presName="bgRect" presStyleLbl="bgShp" presStyleIdx="1" presStyleCnt="2"/>
      <dgm:spPr/>
    </dgm:pt>
    <dgm:pt modelId="{D991BE87-81C3-4A3F-8CE9-B5772B605101}" type="pres">
      <dgm:prSet presAssocID="{8CE05DD1-41D6-4041-8C93-F19921B401D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122B81B-E25B-4890-B3CD-9EEB4DF6C82B}" type="pres">
      <dgm:prSet presAssocID="{8CE05DD1-41D6-4041-8C93-F19921B401D8}" presName="spaceRect" presStyleCnt="0"/>
      <dgm:spPr/>
    </dgm:pt>
    <dgm:pt modelId="{E48DD5EC-38D1-4301-B1D6-9CAAFC4E2602}" type="pres">
      <dgm:prSet presAssocID="{8CE05DD1-41D6-4041-8C93-F19921B401D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2ECBF34-AAD1-4A49-A807-B12D7C77FB62}" srcId="{55CFA585-5CC1-4269-B4B1-71A9806FCF83}" destId="{8CE05DD1-41D6-4041-8C93-F19921B401D8}" srcOrd="1" destOrd="0" parTransId="{AD3CADFB-783F-475F-8E80-58257483C4DB}" sibTransId="{CD8FB04E-9A78-4BB7-AFC6-AD97FEC3CFD3}"/>
    <dgm:cxn modelId="{0572C1CA-766B-40B1-90BE-27A87AF5D1A6}" type="presOf" srcId="{8CE05DD1-41D6-4041-8C93-F19921B401D8}" destId="{E48DD5EC-38D1-4301-B1D6-9CAAFC4E2602}" srcOrd="0" destOrd="0" presId="urn:microsoft.com/office/officeart/2018/2/layout/IconVerticalSolidList"/>
    <dgm:cxn modelId="{ED013DCF-5194-4082-88BA-54BBA59533EB}" type="presOf" srcId="{55CFA585-5CC1-4269-B4B1-71A9806FCF83}" destId="{4FD9F582-9E4F-4041-8B63-2557D043E000}" srcOrd="0" destOrd="0" presId="urn:microsoft.com/office/officeart/2018/2/layout/IconVerticalSolidList"/>
    <dgm:cxn modelId="{1C9B51DE-A9C8-4C1C-BC48-26248C84AE11}" type="presOf" srcId="{ABD13ADD-E4F1-437E-A667-B43BC5CA32B6}" destId="{BA280EA0-F68F-4805-AE34-124799DB8B3C}" srcOrd="0" destOrd="0" presId="urn:microsoft.com/office/officeart/2018/2/layout/IconVerticalSolidList"/>
    <dgm:cxn modelId="{66240AE9-5808-45A0-9419-8504EAB21071}" srcId="{55CFA585-5CC1-4269-B4B1-71A9806FCF83}" destId="{ABD13ADD-E4F1-437E-A667-B43BC5CA32B6}" srcOrd="0" destOrd="0" parTransId="{9CBABCB5-0B4B-443B-AD27-4EC85A9F17C7}" sibTransId="{BC3D49E6-F254-42A6-AECD-36898EE13166}"/>
    <dgm:cxn modelId="{237665C6-F7E8-416E-A2E3-6C4552107709}" type="presParOf" srcId="{4FD9F582-9E4F-4041-8B63-2557D043E000}" destId="{AF24D2B6-E9AC-4EDB-93D2-5DBE39EB7C72}" srcOrd="0" destOrd="0" presId="urn:microsoft.com/office/officeart/2018/2/layout/IconVerticalSolidList"/>
    <dgm:cxn modelId="{6BE4C706-7F3E-49E5-9E12-90BF7513423A}" type="presParOf" srcId="{AF24D2B6-E9AC-4EDB-93D2-5DBE39EB7C72}" destId="{D3F8F908-6897-4583-BE4D-51F74B039107}" srcOrd="0" destOrd="0" presId="urn:microsoft.com/office/officeart/2018/2/layout/IconVerticalSolidList"/>
    <dgm:cxn modelId="{8A8E7C11-2F31-4143-9FC0-712419E86767}" type="presParOf" srcId="{AF24D2B6-E9AC-4EDB-93D2-5DBE39EB7C72}" destId="{583D167F-B02A-48D5-B365-054957C31C8E}" srcOrd="1" destOrd="0" presId="urn:microsoft.com/office/officeart/2018/2/layout/IconVerticalSolidList"/>
    <dgm:cxn modelId="{D503FA16-2A23-4E53-A19F-A875197D1210}" type="presParOf" srcId="{AF24D2B6-E9AC-4EDB-93D2-5DBE39EB7C72}" destId="{F60A51C9-18FE-4EDC-95B9-AE4D06074F1C}" srcOrd="2" destOrd="0" presId="urn:microsoft.com/office/officeart/2018/2/layout/IconVerticalSolidList"/>
    <dgm:cxn modelId="{658B4F7A-319F-44E8-8B13-6AB86D00F063}" type="presParOf" srcId="{AF24D2B6-E9AC-4EDB-93D2-5DBE39EB7C72}" destId="{BA280EA0-F68F-4805-AE34-124799DB8B3C}" srcOrd="3" destOrd="0" presId="urn:microsoft.com/office/officeart/2018/2/layout/IconVerticalSolidList"/>
    <dgm:cxn modelId="{215B8A03-16C9-4816-A46B-5C23730267AC}" type="presParOf" srcId="{4FD9F582-9E4F-4041-8B63-2557D043E000}" destId="{7CB2B475-D970-4320-822D-81DEE122C72F}" srcOrd="1" destOrd="0" presId="urn:microsoft.com/office/officeart/2018/2/layout/IconVerticalSolidList"/>
    <dgm:cxn modelId="{507C8D32-485E-4898-BBCA-4526E8DF09A4}" type="presParOf" srcId="{4FD9F582-9E4F-4041-8B63-2557D043E000}" destId="{5C366CC6-F865-4E5F-B869-713F180EA7D7}" srcOrd="2" destOrd="0" presId="urn:microsoft.com/office/officeart/2018/2/layout/IconVerticalSolidList"/>
    <dgm:cxn modelId="{B516BEC2-4135-4027-B0E4-36224DA8223D}" type="presParOf" srcId="{5C366CC6-F865-4E5F-B869-713F180EA7D7}" destId="{004B97A9-2DCE-4482-82B6-6932281071E7}" srcOrd="0" destOrd="0" presId="urn:microsoft.com/office/officeart/2018/2/layout/IconVerticalSolidList"/>
    <dgm:cxn modelId="{7EDEF730-2529-4A4A-93ED-9A9C48F44BAA}" type="presParOf" srcId="{5C366CC6-F865-4E5F-B869-713F180EA7D7}" destId="{D991BE87-81C3-4A3F-8CE9-B5772B605101}" srcOrd="1" destOrd="0" presId="urn:microsoft.com/office/officeart/2018/2/layout/IconVerticalSolidList"/>
    <dgm:cxn modelId="{18E93983-65A7-42CE-9EC1-B70B507AAD84}" type="presParOf" srcId="{5C366CC6-F865-4E5F-B869-713F180EA7D7}" destId="{A122B81B-E25B-4890-B3CD-9EEB4DF6C82B}" srcOrd="2" destOrd="0" presId="urn:microsoft.com/office/officeart/2018/2/layout/IconVerticalSolidList"/>
    <dgm:cxn modelId="{6F9E1317-8D71-4AF3-8F93-74BF364B03CB}" type="presParOf" srcId="{5C366CC6-F865-4E5F-B869-713F180EA7D7}" destId="{E48DD5EC-38D1-4301-B1D6-9CAAFC4E26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BFE944-7559-4DD0-A9F9-AFD1314C793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EA23DA-2D34-460B-83C9-C84689731B82}">
      <dgm:prSet/>
      <dgm:spPr/>
      <dgm:t>
        <a:bodyPr/>
        <a:lstStyle/>
        <a:p>
          <a:r>
            <a:rPr lang="en-US" dirty="0"/>
            <a:t>Cancer drug targets are especially enriched for CL (Cellular Lethal) genes.</a:t>
          </a:r>
        </a:p>
      </dgm:t>
    </dgm:pt>
    <dgm:pt modelId="{E4C41405-03B3-4AA8-958A-B1BA3C2E7386}" type="parTrans" cxnId="{91DEA83E-6B8F-4DE0-A528-69BAEBAE063E}">
      <dgm:prSet/>
      <dgm:spPr/>
      <dgm:t>
        <a:bodyPr/>
        <a:lstStyle/>
        <a:p>
          <a:endParaRPr lang="en-US"/>
        </a:p>
      </dgm:t>
    </dgm:pt>
    <dgm:pt modelId="{D6416268-6CEF-4ED5-BB59-138D2A8309ED}" type="sibTrans" cxnId="{91DEA83E-6B8F-4DE0-A528-69BAEBAE063E}">
      <dgm:prSet/>
      <dgm:spPr/>
      <dgm:t>
        <a:bodyPr/>
        <a:lstStyle/>
        <a:p>
          <a:endParaRPr lang="en-US"/>
        </a:p>
      </dgm:t>
    </dgm:pt>
    <dgm:pt modelId="{30D1CA95-F749-4BC1-8DDC-CA5289383D10}">
      <dgm:prSet/>
      <dgm:spPr/>
      <dgm:t>
        <a:bodyPr/>
        <a:lstStyle/>
        <a:p>
          <a:r>
            <a:rPr lang="en-US"/>
            <a:t>Cancer therapies often aim to kill rapidly dividing cells, which makes essential genes attractive.</a:t>
          </a:r>
        </a:p>
      </dgm:t>
    </dgm:pt>
    <dgm:pt modelId="{158E5BEB-3E0C-4EF1-B082-B3B66128C4E9}" type="parTrans" cxnId="{41483CF8-7834-430A-AC4D-CF1B53019D5E}">
      <dgm:prSet/>
      <dgm:spPr/>
      <dgm:t>
        <a:bodyPr/>
        <a:lstStyle/>
        <a:p>
          <a:endParaRPr lang="en-US"/>
        </a:p>
      </dgm:t>
    </dgm:pt>
    <dgm:pt modelId="{57231E10-6F71-4CF1-90E2-705D9F068F70}" type="sibTrans" cxnId="{41483CF8-7834-430A-AC4D-CF1B53019D5E}">
      <dgm:prSet/>
      <dgm:spPr/>
      <dgm:t>
        <a:bodyPr/>
        <a:lstStyle/>
        <a:p>
          <a:endParaRPr lang="en-US"/>
        </a:p>
      </dgm:t>
    </dgm:pt>
    <dgm:pt modelId="{C3DFABF8-0578-4BA1-B7B8-9E85D7635F37}">
      <dgm:prSet/>
      <dgm:spPr/>
      <dgm:t>
        <a:bodyPr/>
        <a:lstStyle/>
        <a:p>
          <a:r>
            <a:rPr lang="en-US"/>
            <a:t>Therapeutic rationale for aggressively disrupting vital pathways in cancer cells</a:t>
          </a:r>
        </a:p>
      </dgm:t>
    </dgm:pt>
    <dgm:pt modelId="{69F5DD27-AE50-484F-B85C-CCC59155AEB2}" type="parTrans" cxnId="{D3ACA147-4A35-49FA-AAD6-D08C6EEF9096}">
      <dgm:prSet/>
      <dgm:spPr/>
      <dgm:t>
        <a:bodyPr/>
        <a:lstStyle/>
        <a:p>
          <a:endParaRPr lang="en-US"/>
        </a:p>
      </dgm:t>
    </dgm:pt>
    <dgm:pt modelId="{95FC42B4-AD1C-439A-8733-EA2F6DA3D713}" type="sibTrans" cxnId="{D3ACA147-4A35-49FA-AAD6-D08C6EEF9096}">
      <dgm:prSet/>
      <dgm:spPr/>
      <dgm:t>
        <a:bodyPr/>
        <a:lstStyle/>
        <a:p>
          <a:endParaRPr lang="en-US"/>
        </a:p>
      </dgm:t>
    </dgm:pt>
    <dgm:pt modelId="{2C39DA5C-EFDB-44EE-9128-24F257E7DE05}">
      <dgm:prSet/>
      <dgm:spPr/>
      <dgm:t>
        <a:bodyPr/>
        <a:lstStyle/>
        <a:p>
          <a:r>
            <a:rPr lang="en-US"/>
            <a:t>Explains the cytotoxicity and the many side effects of cancer drugs.</a:t>
          </a:r>
        </a:p>
      </dgm:t>
    </dgm:pt>
    <dgm:pt modelId="{33F92863-970B-4F40-AF02-D9FA51C4A82F}" type="parTrans" cxnId="{4A69D6A5-4937-4412-AC47-D2CFF59A0142}">
      <dgm:prSet/>
      <dgm:spPr/>
      <dgm:t>
        <a:bodyPr/>
        <a:lstStyle/>
        <a:p>
          <a:endParaRPr lang="en-US"/>
        </a:p>
      </dgm:t>
    </dgm:pt>
    <dgm:pt modelId="{90822122-8760-4361-A899-FB87A1D314E5}" type="sibTrans" cxnId="{4A69D6A5-4937-4412-AC47-D2CFF59A0142}">
      <dgm:prSet/>
      <dgm:spPr/>
      <dgm:t>
        <a:bodyPr/>
        <a:lstStyle/>
        <a:p>
          <a:endParaRPr lang="en-US"/>
        </a:p>
      </dgm:t>
    </dgm:pt>
    <dgm:pt modelId="{AEEC60A7-A32F-4980-AB6F-9560425A8E84}" type="pres">
      <dgm:prSet presAssocID="{CDBFE944-7559-4DD0-A9F9-AFD1314C7939}" presName="outerComposite" presStyleCnt="0">
        <dgm:presLayoutVars>
          <dgm:chMax val="5"/>
          <dgm:dir/>
          <dgm:resizeHandles val="exact"/>
        </dgm:presLayoutVars>
      </dgm:prSet>
      <dgm:spPr/>
    </dgm:pt>
    <dgm:pt modelId="{8F348C07-97EB-4654-A2AF-08CAAD039A03}" type="pres">
      <dgm:prSet presAssocID="{CDBFE944-7559-4DD0-A9F9-AFD1314C7939}" presName="dummyMaxCanvas" presStyleCnt="0">
        <dgm:presLayoutVars/>
      </dgm:prSet>
      <dgm:spPr/>
    </dgm:pt>
    <dgm:pt modelId="{1F221C0D-11D8-43DC-AF50-07541D8F03E4}" type="pres">
      <dgm:prSet presAssocID="{CDBFE944-7559-4DD0-A9F9-AFD1314C7939}" presName="FourNodes_1" presStyleLbl="node1" presStyleIdx="0" presStyleCnt="4">
        <dgm:presLayoutVars>
          <dgm:bulletEnabled val="1"/>
        </dgm:presLayoutVars>
      </dgm:prSet>
      <dgm:spPr/>
    </dgm:pt>
    <dgm:pt modelId="{626B9C9D-3D8B-4B59-B520-D980065513D6}" type="pres">
      <dgm:prSet presAssocID="{CDBFE944-7559-4DD0-A9F9-AFD1314C7939}" presName="FourNodes_2" presStyleLbl="node1" presStyleIdx="1" presStyleCnt="4">
        <dgm:presLayoutVars>
          <dgm:bulletEnabled val="1"/>
        </dgm:presLayoutVars>
      </dgm:prSet>
      <dgm:spPr/>
    </dgm:pt>
    <dgm:pt modelId="{93FEDE02-2C84-4EDC-9E33-F5FFABD6F5E3}" type="pres">
      <dgm:prSet presAssocID="{CDBFE944-7559-4DD0-A9F9-AFD1314C7939}" presName="FourNodes_3" presStyleLbl="node1" presStyleIdx="2" presStyleCnt="4">
        <dgm:presLayoutVars>
          <dgm:bulletEnabled val="1"/>
        </dgm:presLayoutVars>
      </dgm:prSet>
      <dgm:spPr/>
    </dgm:pt>
    <dgm:pt modelId="{46DCB5FA-21A7-4E5B-84CE-12C4E02FBFA1}" type="pres">
      <dgm:prSet presAssocID="{CDBFE944-7559-4DD0-A9F9-AFD1314C7939}" presName="FourNodes_4" presStyleLbl="node1" presStyleIdx="3" presStyleCnt="4">
        <dgm:presLayoutVars>
          <dgm:bulletEnabled val="1"/>
        </dgm:presLayoutVars>
      </dgm:prSet>
      <dgm:spPr/>
    </dgm:pt>
    <dgm:pt modelId="{932F7AC7-9609-45E0-8A22-16E67756E4E9}" type="pres">
      <dgm:prSet presAssocID="{CDBFE944-7559-4DD0-A9F9-AFD1314C7939}" presName="FourConn_1-2" presStyleLbl="fgAccFollowNode1" presStyleIdx="0" presStyleCnt="3">
        <dgm:presLayoutVars>
          <dgm:bulletEnabled val="1"/>
        </dgm:presLayoutVars>
      </dgm:prSet>
      <dgm:spPr/>
    </dgm:pt>
    <dgm:pt modelId="{96171E74-D519-4E92-843B-31AE8F5E5EE6}" type="pres">
      <dgm:prSet presAssocID="{CDBFE944-7559-4DD0-A9F9-AFD1314C7939}" presName="FourConn_2-3" presStyleLbl="fgAccFollowNode1" presStyleIdx="1" presStyleCnt="3">
        <dgm:presLayoutVars>
          <dgm:bulletEnabled val="1"/>
        </dgm:presLayoutVars>
      </dgm:prSet>
      <dgm:spPr/>
    </dgm:pt>
    <dgm:pt modelId="{5B4FF200-00CE-4603-807D-9FFFFE69A307}" type="pres">
      <dgm:prSet presAssocID="{CDBFE944-7559-4DD0-A9F9-AFD1314C7939}" presName="FourConn_3-4" presStyleLbl="fgAccFollowNode1" presStyleIdx="2" presStyleCnt="3">
        <dgm:presLayoutVars>
          <dgm:bulletEnabled val="1"/>
        </dgm:presLayoutVars>
      </dgm:prSet>
      <dgm:spPr/>
    </dgm:pt>
    <dgm:pt modelId="{3F66E651-545E-4C06-9E15-BD3859BA3E4B}" type="pres">
      <dgm:prSet presAssocID="{CDBFE944-7559-4DD0-A9F9-AFD1314C7939}" presName="FourNodes_1_text" presStyleLbl="node1" presStyleIdx="3" presStyleCnt="4">
        <dgm:presLayoutVars>
          <dgm:bulletEnabled val="1"/>
        </dgm:presLayoutVars>
      </dgm:prSet>
      <dgm:spPr/>
    </dgm:pt>
    <dgm:pt modelId="{D5C37EA4-A98C-4C82-92B9-614DFD3273AC}" type="pres">
      <dgm:prSet presAssocID="{CDBFE944-7559-4DD0-A9F9-AFD1314C7939}" presName="FourNodes_2_text" presStyleLbl="node1" presStyleIdx="3" presStyleCnt="4">
        <dgm:presLayoutVars>
          <dgm:bulletEnabled val="1"/>
        </dgm:presLayoutVars>
      </dgm:prSet>
      <dgm:spPr/>
    </dgm:pt>
    <dgm:pt modelId="{A9F661C7-0312-47AA-9909-98D4E57BBE59}" type="pres">
      <dgm:prSet presAssocID="{CDBFE944-7559-4DD0-A9F9-AFD1314C7939}" presName="FourNodes_3_text" presStyleLbl="node1" presStyleIdx="3" presStyleCnt="4">
        <dgm:presLayoutVars>
          <dgm:bulletEnabled val="1"/>
        </dgm:presLayoutVars>
      </dgm:prSet>
      <dgm:spPr/>
    </dgm:pt>
    <dgm:pt modelId="{7A1E7885-DF52-4045-BFF2-B5F25D182F25}" type="pres">
      <dgm:prSet presAssocID="{CDBFE944-7559-4DD0-A9F9-AFD1314C793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5E6D417-092E-432B-B894-22F3C8D34958}" type="presOf" srcId="{C3DFABF8-0578-4BA1-B7B8-9E85D7635F37}" destId="{93FEDE02-2C84-4EDC-9E33-F5FFABD6F5E3}" srcOrd="0" destOrd="0" presId="urn:microsoft.com/office/officeart/2005/8/layout/vProcess5"/>
    <dgm:cxn modelId="{16347724-3F91-4520-81C1-E0F0A326069C}" type="presOf" srcId="{30D1CA95-F749-4BC1-8DDC-CA5289383D10}" destId="{626B9C9D-3D8B-4B59-B520-D980065513D6}" srcOrd="0" destOrd="0" presId="urn:microsoft.com/office/officeart/2005/8/layout/vProcess5"/>
    <dgm:cxn modelId="{7FD2932B-9508-4B26-BEEA-424193AFA7A7}" type="presOf" srcId="{D6416268-6CEF-4ED5-BB59-138D2A8309ED}" destId="{932F7AC7-9609-45E0-8A22-16E67756E4E9}" srcOrd="0" destOrd="0" presId="urn:microsoft.com/office/officeart/2005/8/layout/vProcess5"/>
    <dgm:cxn modelId="{91DEA83E-6B8F-4DE0-A528-69BAEBAE063E}" srcId="{CDBFE944-7559-4DD0-A9F9-AFD1314C7939}" destId="{B2EA23DA-2D34-460B-83C9-C84689731B82}" srcOrd="0" destOrd="0" parTransId="{E4C41405-03B3-4AA8-958A-B1BA3C2E7386}" sibTransId="{D6416268-6CEF-4ED5-BB59-138D2A8309ED}"/>
    <dgm:cxn modelId="{D3ACA147-4A35-49FA-AAD6-D08C6EEF9096}" srcId="{CDBFE944-7559-4DD0-A9F9-AFD1314C7939}" destId="{C3DFABF8-0578-4BA1-B7B8-9E85D7635F37}" srcOrd="2" destOrd="0" parTransId="{69F5DD27-AE50-484F-B85C-CCC59155AEB2}" sibTransId="{95FC42B4-AD1C-439A-8733-EA2F6DA3D713}"/>
    <dgm:cxn modelId="{16D5296B-A341-4467-8AC7-5D152EB53167}" type="presOf" srcId="{30D1CA95-F749-4BC1-8DDC-CA5289383D10}" destId="{D5C37EA4-A98C-4C82-92B9-614DFD3273AC}" srcOrd="1" destOrd="0" presId="urn:microsoft.com/office/officeart/2005/8/layout/vProcess5"/>
    <dgm:cxn modelId="{2C36FD53-9523-4DF4-BED7-467ACA198EA2}" type="presOf" srcId="{B2EA23DA-2D34-460B-83C9-C84689731B82}" destId="{1F221C0D-11D8-43DC-AF50-07541D8F03E4}" srcOrd="0" destOrd="0" presId="urn:microsoft.com/office/officeart/2005/8/layout/vProcess5"/>
    <dgm:cxn modelId="{8A1B817D-6E0F-42B2-BEAF-CE24C0F5EAD7}" type="presOf" srcId="{95FC42B4-AD1C-439A-8733-EA2F6DA3D713}" destId="{5B4FF200-00CE-4603-807D-9FFFFE69A307}" srcOrd="0" destOrd="0" presId="urn:microsoft.com/office/officeart/2005/8/layout/vProcess5"/>
    <dgm:cxn modelId="{DBEA3690-C4D5-40FC-8E6C-B51FDF1A366E}" type="presOf" srcId="{C3DFABF8-0578-4BA1-B7B8-9E85D7635F37}" destId="{A9F661C7-0312-47AA-9909-98D4E57BBE59}" srcOrd="1" destOrd="0" presId="urn:microsoft.com/office/officeart/2005/8/layout/vProcess5"/>
    <dgm:cxn modelId="{4A69D6A5-4937-4412-AC47-D2CFF59A0142}" srcId="{CDBFE944-7559-4DD0-A9F9-AFD1314C7939}" destId="{2C39DA5C-EFDB-44EE-9128-24F257E7DE05}" srcOrd="3" destOrd="0" parTransId="{33F92863-970B-4F40-AF02-D9FA51C4A82F}" sibTransId="{90822122-8760-4361-A899-FB87A1D314E5}"/>
    <dgm:cxn modelId="{BCA081A6-816A-4901-A38C-FBA18480F7D6}" type="presOf" srcId="{2C39DA5C-EFDB-44EE-9128-24F257E7DE05}" destId="{46DCB5FA-21A7-4E5B-84CE-12C4E02FBFA1}" srcOrd="0" destOrd="0" presId="urn:microsoft.com/office/officeart/2005/8/layout/vProcess5"/>
    <dgm:cxn modelId="{276000A9-FDC9-4392-B625-1130A3BD145C}" type="presOf" srcId="{57231E10-6F71-4CF1-90E2-705D9F068F70}" destId="{96171E74-D519-4E92-843B-31AE8F5E5EE6}" srcOrd="0" destOrd="0" presId="urn:microsoft.com/office/officeart/2005/8/layout/vProcess5"/>
    <dgm:cxn modelId="{457185C5-A7D9-4811-8C67-35855919C1B1}" type="presOf" srcId="{CDBFE944-7559-4DD0-A9F9-AFD1314C7939}" destId="{AEEC60A7-A32F-4980-AB6F-9560425A8E84}" srcOrd="0" destOrd="0" presId="urn:microsoft.com/office/officeart/2005/8/layout/vProcess5"/>
    <dgm:cxn modelId="{0E8503CE-1425-402D-8A3D-D4B980DEBF41}" type="presOf" srcId="{2C39DA5C-EFDB-44EE-9128-24F257E7DE05}" destId="{7A1E7885-DF52-4045-BFF2-B5F25D182F25}" srcOrd="1" destOrd="0" presId="urn:microsoft.com/office/officeart/2005/8/layout/vProcess5"/>
    <dgm:cxn modelId="{41483CF8-7834-430A-AC4D-CF1B53019D5E}" srcId="{CDBFE944-7559-4DD0-A9F9-AFD1314C7939}" destId="{30D1CA95-F749-4BC1-8DDC-CA5289383D10}" srcOrd="1" destOrd="0" parTransId="{158E5BEB-3E0C-4EF1-B082-B3B66128C4E9}" sibTransId="{57231E10-6F71-4CF1-90E2-705D9F068F70}"/>
    <dgm:cxn modelId="{4CCE36FE-F84C-4132-9494-B74878CFD359}" type="presOf" srcId="{B2EA23DA-2D34-460B-83C9-C84689731B82}" destId="{3F66E651-545E-4C06-9E15-BD3859BA3E4B}" srcOrd="1" destOrd="0" presId="urn:microsoft.com/office/officeart/2005/8/layout/vProcess5"/>
    <dgm:cxn modelId="{B326FB86-AFFB-4021-BE45-7A5DEFDC2615}" type="presParOf" srcId="{AEEC60A7-A32F-4980-AB6F-9560425A8E84}" destId="{8F348C07-97EB-4654-A2AF-08CAAD039A03}" srcOrd="0" destOrd="0" presId="urn:microsoft.com/office/officeart/2005/8/layout/vProcess5"/>
    <dgm:cxn modelId="{44A20BAE-2BC5-4210-B37D-F701BCCB3FFF}" type="presParOf" srcId="{AEEC60A7-A32F-4980-AB6F-9560425A8E84}" destId="{1F221C0D-11D8-43DC-AF50-07541D8F03E4}" srcOrd="1" destOrd="0" presId="urn:microsoft.com/office/officeart/2005/8/layout/vProcess5"/>
    <dgm:cxn modelId="{23F271A0-5FA2-436D-B63E-054724AFB270}" type="presParOf" srcId="{AEEC60A7-A32F-4980-AB6F-9560425A8E84}" destId="{626B9C9D-3D8B-4B59-B520-D980065513D6}" srcOrd="2" destOrd="0" presId="urn:microsoft.com/office/officeart/2005/8/layout/vProcess5"/>
    <dgm:cxn modelId="{44F76688-7CCC-41AF-B174-A3F4C6B441FD}" type="presParOf" srcId="{AEEC60A7-A32F-4980-AB6F-9560425A8E84}" destId="{93FEDE02-2C84-4EDC-9E33-F5FFABD6F5E3}" srcOrd="3" destOrd="0" presId="urn:microsoft.com/office/officeart/2005/8/layout/vProcess5"/>
    <dgm:cxn modelId="{7B7337E5-8595-43C9-8CB3-B27EEAF5602C}" type="presParOf" srcId="{AEEC60A7-A32F-4980-AB6F-9560425A8E84}" destId="{46DCB5FA-21A7-4E5B-84CE-12C4E02FBFA1}" srcOrd="4" destOrd="0" presId="urn:microsoft.com/office/officeart/2005/8/layout/vProcess5"/>
    <dgm:cxn modelId="{EB65088E-DD6C-4CB6-B0AB-3ED14FC59666}" type="presParOf" srcId="{AEEC60A7-A32F-4980-AB6F-9560425A8E84}" destId="{932F7AC7-9609-45E0-8A22-16E67756E4E9}" srcOrd="5" destOrd="0" presId="urn:microsoft.com/office/officeart/2005/8/layout/vProcess5"/>
    <dgm:cxn modelId="{C3B5D80D-2EA7-4DA3-AB8A-03D12333C377}" type="presParOf" srcId="{AEEC60A7-A32F-4980-AB6F-9560425A8E84}" destId="{96171E74-D519-4E92-843B-31AE8F5E5EE6}" srcOrd="6" destOrd="0" presId="urn:microsoft.com/office/officeart/2005/8/layout/vProcess5"/>
    <dgm:cxn modelId="{73C603E1-8C15-42D5-AD0B-C42D340236C1}" type="presParOf" srcId="{AEEC60A7-A32F-4980-AB6F-9560425A8E84}" destId="{5B4FF200-00CE-4603-807D-9FFFFE69A307}" srcOrd="7" destOrd="0" presId="urn:microsoft.com/office/officeart/2005/8/layout/vProcess5"/>
    <dgm:cxn modelId="{16687147-2E54-4AE5-9E2E-1803EDD60CC2}" type="presParOf" srcId="{AEEC60A7-A32F-4980-AB6F-9560425A8E84}" destId="{3F66E651-545E-4C06-9E15-BD3859BA3E4B}" srcOrd="8" destOrd="0" presId="urn:microsoft.com/office/officeart/2005/8/layout/vProcess5"/>
    <dgm:cxn modelId="{A40D1EEA-0912-4FF1-8CF2-BBBC116D0EE6}" type="presParOf" srcId="{AEEC60A7-A32F-4980-AB6F-9560425A8E84}" destId="{D5C37EA4-A98C-4C82-92B9-614DFD3273AC}" srcOrd="9" destOrd="0" presId="urn:microsoft.com/office/officeart/2005/8/layout/vProcess5"/>
    <dgm:cxn modelId="{72D97A78-A355-40AC-8BD2-101EE64E347C}" type="presParOf" srcId="{AEEC60A7-A32F-4980-AB6F-9560425A8E84}" destId="{A9F661C7-0312-47AA-9909-98D4E57BBE59}" srcOrd="10" destOrd="0" presId="urn:microsoft.com/office/officeart/2005/8/layout/vProcess5"/>
    <dgm:cxn modelId="{3608B857-42BF-4FDC-99C8-5A50B721A066}" type="presParOf" srcId="{AEEC60A7-A32F-4980-AB6F-9560425A8E84}" destId="{7A1E7885-DF52-4045-BFF2-B5F25D182F2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DE382-CAA5-4C0C-B548-4664F1E49E45}">
      <dsp:nvSpPr>
        <dsp:cNvPr id="0" name=""/>
        <dsp:cNvSpPr/>
      </dsp:nvSpPr>
      <dsp:spPr>
        <a:xfrm>
          <a:off x="3105698" y="538"/>
          <a:ext cx="1324920" cy="883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How can it help in Drug Development</a:t>
          </a:r>
        </a:p>
      </dsp:txBody>
      <dsp:txXfrm>
        <a:off x="3131568" y="26408"/>
        <a:ext cx="1273180" cy="831540"/>
      </dsp:txXfrm>
    </dsp:sp>
    <dsp:sp modelId="{DEED3EF4-C1DF-4826-9849-F50A6A6FDCF8}">
      <dsp:nvSpPr>
        <dsp:cNvPr id="0" name=""/>
        <dsp:cNvSpPr/>
      </dsp:nvSpPr>
      <dsp:spPr>
        <a:xfrm>
          <a:off x="2476361" y="883818"/>
          <a:ext cx="1291797" cy="353312"/>
        </a:xfrm>
        <a:custGeom>
          <a:avLst/>
          <a:gdLst/>
          <a:ahLst/>
          <a:cxnLst/>
          <a:rect l="0" t="0" r="0" b="0"/>
          <a:pathLst>
            <a:path>
              <a:moveTo>
                <a:pt x="1291797" y="0"/>
              </a:moveTo>
              <a:lnTo>
                <a:pt x="1291797" y="176656"/>
              </a:lnTo>
              <a:lnTo>
                <a:pt x="0" y="176656"/>
              </a:lnTo>
              <a:lnTo>
                <a:pt x="0" y="3533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A7B640-0AEA-4E4F-94D8-25F97C991A44}">
      <dsp:nvSpPr>
        <dsp:cNvPr id="0" name=""/>
        <dsp:cNvSpPr/>
      </dsp:nvSpPr>
      <dsp:spPr>
        <a:xfrm>
          <a:off x="1813901" y="1237130"/>
          <a:ext cx="1324920" cy="883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Gene Essentiality</a:t>
          </a:r>
        </a:p>
      </dsp:txBody>
      <dsp:txXfrm>
        <a:off x="1839771" y="1263000"/>
        <a:ext cx="1273180" cy="831540"/>
      </dsp:txXfrm>
    </dsp:sp>
    <dsp:sp modelId="{B95A0038-969A-416C-9713-5B64EF064769}">
      <dsp:nvSpPr>
        <dsp:cNvPr id="0" name=""/>
        <dsp:cNvSpPr/>
      </dsp:nvSpPr>
      <dsp:spPr>
        <a:xfrm>
          <a:off x="1615163" y="2120411"/>
          <a:ext cx="861198" cy="353312"/>
        </a:xfrm>
        <a:custGeom>
          <a:avLst/>
          <a:gdLst/>
          <a:ahLst/>
          <a:cxnLst/>
          <a:rect l="0" t="0" r="0" b="0"/>
          <a:pathLst>
            <a:path>
              <a:moveTo>
                <a:pt x="861198" y="0"/>
              </a:moveTo>
              <a:lnTo>
                <a:pt x="861198" y="176656"/>
              </a:lnTo>
              <a:lnTo>
                <a:pt x="0" y="176656"/>
              </a:lnTo>
              <a:lnTo>
                <a:pt x="0" y="3533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98FB8C-355A-460F-874C-9AF70FAB1CE5}">
      <dsp:nvSpPr>
        <dsp:cNvPr id="0" name=""/>
        <dsp:cNvSpPr/>
      </dsp:nvSpPr>
      <dsp:spPr>
        <a:xfrm>
          <a:off x="952703" y="2473723"/>
          <a:ext cx="1324920" cy="883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Drug Target Validation</a:t>
          </a:r>
        </a:p>
      </dsp:txBody>
      <dsp:txXfrm>
        <a:off x="978573" y="2499593"/>
        <a:ext cx="1273180" cy="831540"/>
      </dsp:txXfrm>
    </dsp:sp>
    <dsp:sp modelId="{90F54293-924F-43AD-B58F-C32892D14B17}">
      <dsp:nvSpPr>
        <dsp:cNvPr id="0" name=""/>
        <dsp:cNvSpPr/>
      </dsp:nvSpPr>
      <dsp:spPr>
        <a:xfrm>
          <a:off x="2476361" y="2120411"/>
          <a:ext cx="861198" cy="3533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656"/>
              </a:lnTo>
              <a:lnTo>
                <a:pt x="861198" y="176656"/>
              </a:lnTo>
              <a:lnTo>
                <a:pt x="861198" y="3533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2A6939-FC10-4000-A6D4-3FC03CE04C09}">
      <dsp:nvSpPr>
        <dsp:cNvPr id="0" name=""/>
        <dsp:cNvSpPr/>
      </dsp:nvSpPr>
      <dsp:spPr>
        <a:xfrm>
          <a:off x="2675099" y="2473723"/>
          <a:ext cx="1324920" cy="883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Drug Target Stratification</a:t>
          </a:r>
        </a:p>
      </dsp:txBody>
      <dsp:txXfrm>
        <a:off x="2700969" y="2499593"/>
        <a:ext cx="1273180" cy="831540"/>
      </dsp:txXfrm>
    </dsp:sp>
    <dsp:sp modelId="{28BA9CFB-F8C5-4C70-858A-FFC248FEAE47}">
      <dsp:nvSpPr>
        <dsp:cNvPr id="0" name=""/>
        <dsp:cNvSpPr/>
      </dsp:nvSpPr>
      <dsp:spPr>
        <a:xfrm>
          <a:off x="3768159" y="883818"/>
          <a:ext cx="1291797" cy="3533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656"/>
              </a:lnTo>
              <a:lnTo>
                <a:pt x="1291797" y="176656"/>
              </a:lnTo>
              <a:lnTo>
                <a:pt x="1291797" y="3533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4A1780-4B24-47EE-B086-8BE244C5C3E2}">
      <dsp:nvSpPr>
        <dsp:cNvPr id="0" name=""/>
        <dsp:cNvSpPr/>
      </dsp:nvSpPr>
      <dsp:spPr>
        <a:xfrm>
          <a:off x="4397496" y="1237130"/>
          <a:ext cx="1324920" cy="883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Paralogy</a:t>
          </a:r>
        </a:p>
      </dsp:txBody>
      <dsp:txXfrm>
        <a:off x="4423366" y="1263000"/>
        <a:ext cx="1273180" cy="831540"/>
      </dsp:txXfrm>
    </dsp:sp>
    <dsp:sp modelId="{633AA526-9BE3-49E7-A02F-15271644FD71}">
      <dsp:nvSpPr>
        <dsp:cNvPr id="0" name=""/>
        <dsp:cNvSpPr/>
      </dsp:nvSpPr>
      <dsp:spPr>
        <a:xfrm>
          <a:off x="5014236" y="2120411"/>
          <a:ext cx="91440" cy="3533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3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E4783A-1E23-40CC-B4B0-2AFE73EB56C0}">
      <dsp:nvSpPr>
        <dsp:cNvPr id="0" name=""/>
        <dsp:cNvSpPr/>
      </dsp:nvSpPr>
      <dsp:spPr>
        <a:xfrm>
          <a:off x="4397496" y="2473723"/>
          <a:ext cx="1324920" cy="883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Side Effects prediction</a:t>
          </a:r>
        </a:p>
      </dsp:txBody>
      <dsp:txXfrm>
        <a:off x="4423366" y="2499593"/>
        <a:ext cx="1273180" cy="8315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F8F908-6897-4583-BE4D-51F74B039107}">
      <dsp:nvSpPr>
        <dsp:cNvPr id="0" name=""/>
        <dsp:cNvSpPr/>
      </dsp:nvSpPr>
      <dsp:spPr>
        <a:xfrm>
          <a:off x="0" y="521179"/>
          <a:ext cx="5243471" cy="9621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3D167F-B02A-48D5-B365-054957C31C8E}">
      <dsp:nvSpPr>
        <dsp:cNvPr id="0" name=""/>
        <dsp:cNvSpPr/>
      </dsp:nvSpPr>
      <dsp:spPr>
        <a:xfrm>
          <a:off x="291058" y="737669"/>
          <a:ext cx="529197" cy="5291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80EA0-F68F-4805-AE34-124799DB8B3C}">
      <dsp:nvSpPr>
        <dsp:cNvPr id="0" name=""/>
        <dsp:cNvSpPr/>
      </dsp:nvSpPr>
      <dsp:spPr>
        <a:xfrm>
          <a:off x="1111314" y="521179"/>
          <a:ext cx="4132156" cy="962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830" tIns="101830" rIns="101830" bIns="10183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Many disease terms mapped to multiple, different higher-level categories</a:t>
          </a:r>
        </a:p>
      </dsp:txBody>
      <dsp:txXfrm>
        <a:off x="1111314" y="521179"/>
        <a:ext cx="4132156" cy="962177"/>
      </dsp:txXfrm>
    </dsp:sp>
    <dsp:sp modelId="{004B97A9-2DCE-4482-82B6-6932281071E7}">
      <dsp:nvSpPr>
        <dsp:cNvPr id="0" name=""/>
        <dsp:cNvSpPr/>
      </dsp:nvSpPr>
      <dsp:spPr>
        <a:xfrm>
          <a:off x="0" y="1723901"/>
          <a:ext cx="5243471" cy="9621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1BE87-81C3-4A3F-8CE9-B5772B605101}">
      <dsp:nvSpPr>
        <dsp:cNvPr id="0" name=""/>
        <dsp:cNvSpPr/>
      </dsp:nvSpPr>
      <dsp:spPr>
        <a:xfrm>
          <a:off x="291058" y="1940391"/>
          <a:ext cx="529197" cy="5291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DD5EC-38D1-4301-B1D6-9CAAFC4E2602}">
      <dsp:nvSpPr>
        <dsp:cNvPr id="0" name=""/>
        <dsp:cNvSpPr/>
      </dsp:nvSpPr>
      <dsp:spPr>
        <a:xfrm>
          <a:off x="1111314" y="1723901"/>
          <a:ext cx="4132156" cy="962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830" tIns="101830" rIns="101830" bIns="10183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Affects consistency with the analysis.</a:t>
          </a:r>
        </a:p>
      </dsp:txBody>
      <dsp:txXfrm>
        <a:off x="1111314" y="1723901"/>
        <a:ext cx="4132156" cy="9621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221C0D-11D8-43DC-AF50-07541D8F03E4}">
      <dsp:nvSpPr>
        <dsp:cNvPr id="0" name=""/>
        <dsp:cNvSpPr/>
      </dsp:nvSpPr>
      <dsp:spPr>
        <a:xfrm>
          <a:off x="0" y="0"/>
          <a:ext cx="5316718" cy="690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Cancer drug targets are especially enriched for CL (Cellular Lethal) genes.</a:t>
          </a:r>
        </a:p>
      </dsp:txBody>
      <dsp:txXfrm>
        <a:off x="20228" y="20228"/>
        <a:ext cx="4513093" cy="650194"/>
      </dsp:txXfrm>
    </dsp:sp>
    <dsp:sp modelId="{626B9C9D-3D8B-4B59-B520-D980065513D6}">
      <dsp:nvSpPr>
        <dsp:cNvPr id="0" name=""/>
        <dsp:cNvSpPr/>
      </dsp:nvSpPr>
      <dsp:spPr>
        <a:xfrm>
          <a:off x="445275" y="816223"/>
          <a:ext cx="5316718" cy="690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Cancer therapies often aim to kill rapidly dividing cells, which makes essential genes attractive.</a:t>
          </a:r>
        </a:p>
      </dsp:txBody>
      <dsp:txXfrm>
        <a:off x="465503" y="836451"/>
        <a:ext cx="4382064" cy="650194"/>
      </dsp:txXfrm>
    </dsp:sp>
    <dsp:sp modelId="{93FEDE02-2C84-4EDC-9E33-F5FFABD6F5E3}">
      <dsp:nvSpPr>
        <dsp:cNvPr id="0" name=""/>
        <dsp:cNvSpPr/>
      </dsp:nvSpPr>
      <dsp:spPr>
        <a:xfrm>
          <a:off x="883904" y="1632446"/>
          <a:ext cx="5316718" cy="690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Therapeutic rationale for aggressively disrupting vital pathways in cancer cells</a:t>
          </a:r>
        </a:p>
      </dsp:txBody>
      <dsp:txXfrm>
        <a:off x="904132" y="1652674"/>
        <a:ext cx="4388710" cy="650194"/>
      </dsp:txXfrm>
    </dsp:sp>
    <dsp:sp modelId="{46DCB5FA-21A7-4E5B-84CE-12C4E02FBFA1}">
      <dsp:nvSpPr>
        <dsp:cNvPr id="0" name=""/>
        <dsp:cNvSpPr/>
      </dsp:nvSpPr>
      <dsp:spPr>
        <a:xfrm>
          <a:off x="1329179" y="2448670"/>
          <a:ext cx="5316718" cy="690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Explains the cytotoxicity and the many side effects of cancer drugs.</a:t>
          </a:r>
        </a:p>
      </dsp:txBody>
      <dsp:txXfrm>
        <a:off x="1349407" y="2468898"/>
        <a:ext cx="4382064" cy="650194"/>
      </dsp:txXfrm>
    </dsp:sp>
    <dsp:sp modelId="{932F7AC7-9609-45E0-8A22-16E67756E4E9}">
      <dsp:nvSpPr>
        <dsp:cNvPr id="0" name=""/>
        <dsp:cNvSpPr/>
      </dsp:nvSpPr>
      <dsp:spPr>
        <a:xfrm>
          <a:off x="4867795" y="528975"/>
          <a:ext cx="448922" cy="44892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968802" y="528975"/>
        <a:ext cx="246908" cy="337814"/>
      </dsp:txXfrm>
    </dsp:sp>
    <dsp:sp modelId="{96171E74-D519-4E92-843B-31AE8F5E5EE6}">
      <dsp:nvSpPr>
        <dsp:cNvPr id="0" name=""/>
        <dsp:cNvSpPr/>
      </dsp:nvSpPr>
      <dsp:spPr>
        <a:xfrm>
          <a:off x="5313070" y="1345199"/>
          <a:ext cx="448922" cy="44892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414077" y="1345199"/>
        <a:ext cx="246908" cy="337814"/>
      </dsp:txXfrm>
    </dsp:sp>
    <dsp:sp modelId="{5B4FF200-00CE-4603-807D-9FFFFE69A307}">
      <dsp:nvSpPr>
        <dsp:cNvPr id="0" name=""/>
        <dsp:cNvSpPr/>
      </dsp:nvSpPr>
      <dsp:spPr>
        <a:xfrm>
          <a:off x="5751699" y="2161422"/>
          <a:ext cx="448922" cy="44892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852706" y="2161422"/>
        <a:ext cx="246908" cy="3378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6A8664-E50F-32D0-DD6B-75CE766448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88965-F4B2-4651-6A8B-1D0EB9E37E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022CB-6329-4298-838A-CF66C5A1E2F9}" type="datetimeFigureOut">
              <a:rPr lang="en-GB" smtClean="0"/>
              <a:t>30/07/2025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4B780-2C8A-DF14-D99A-AC9925E04A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76553-29CB-9F77-654D-5CDA6A91D4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ACD4C-EAC6-4A7D-AD15-996B262FB2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39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6B129-357D-45B1-B242-E6A58EBC6416}" type="datetimeFigureOut">
              <a:rPr lang="en-GB" smtClean="0"/>
              <a:t>30/07/2025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A3C9E-B718-4F0C-B302-4B86841B98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118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404040"/>
                </a:solidFill>
                <a:effectLst/>
                <a:latin typeface="quote-cjk-patch"/>
              </a:rPr>
              <a:t>If a drug’s known side effects match the biological roles of its paralogues could suggests off-target mechanisms. Therefore, if we can stratify those SE we can predict safety and toxicity patterns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chemeClr val="bg1"/>
                </a:solidFill>
              </a:rPr>
              <a:t>Ex: </a:t>
            </a:r>
            <a:r>
              <a:rPr lang="en-US" sz="1200" dirty="0">
                <a:solidFill>
                  <a:schemeClr val="bg1"/>
                </a:solidFill>
              </a:rPr>
              <a:t>essential genes in pathogens or cancer but not in humans would suggest that is an excellent target for drugs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002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Orthologs are genes in different species that evolved from a common ancestral gene through speciation. Paralogs are genes within the same species (or occasionally across species) that arose from a gene duplication event.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Orthologs Tend to have similar function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Paralogues Tend to Have different function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protein language models (PLMs) and predicted structures from AlphaFold, raises the possibility that alternative similarity metrics could better capture functional similarity between paralogs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55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is worth mentioning that I crated a function in R that would produce a matrix of 1/0 for paralogue presence while accounting for PC genes for the different similarity thresholds. </a:t>
            </a:r>
          </a:p>
          <a:p>
            <a:r>
              <a:rPr lang="en-GB" dirty="0"/>
              <a:t>Just so if it is relevant to your research. You don’t have to do it again.</a:t>
            </a:r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"Our findings show a </a:t>
            </a:r>
            <a:r>
              <a:rPr lang="en-US" b="1" dirty="0"/>
              <a:t>clear inverse relationship</a:t>
            </a:r>
            <a:r>
              <a:rPr lang="en-US" dirty="0"/>
              <a:t> between gene essentiality and the presence of paralogues.</a:t>
            </a:r>
          </a:p>
          <a:p>
            <a:r>
              <a:rPr lang="en-US" dirty="0"/>
              <a:t>For example, nearly </a:t>
            </a:r>
            <a:r>
              <a:rPr lang="en-US" b="1" dirty="0"/>
              <a:t>80% of CL genes</a:t>
            </a:r>
            <a:r>
              <a:rPr lang="en-US" dirty="0"/>
              <a:t>—the most essential—</a:t>
            </a:r>
            <a:r>
              <a:rPr lang="en-US" b="1" dirty="0"/>
              <a:t>have no paralogues</a:t>
            </a:r>
            <a:r>
              <a:rPr lang="en-US" dirty="0"/>
              <a:t>, suggesting they are functionally unique and irreplaceable.</a:t>
            </a:r>
          </a:p>
          <a:p>
            <a:r>
              <a:rPr lang="en-US" dirty="0"/>
              <a:t>This makes them </a:t>
            </a:r>
            <a:r>
              <a:rPr lang="en-US" b="1" dirty="0"/>
              <a:t>risky drug targets</a:t>
            </a:r>
            <a:r>
              <a:rPr lang="en-US" dirty="0"/>
              <a:t> from a safety perspective."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797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19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suggests that vital functions have been </a:t>
            </a:r>
            <a:r>
              <a:rPr lang="en-US" b="1" dirty="0"/>
              <a:t>conserved through evolution</a:t>
            </a:r>
            <a:r>
              <a:rPr lang="en-US" dirty="0"/>
              <a:t>, and these genes are central to survival."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570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 and DL categories (more essential genes) are enriched in:</a:t>
            </a:r>
          </a:p>
          <a:p>
            <a:endParaRPr lang="en-GB" dirty="0"/>
          </a:p>
          <a:p>
            <a:r>
              <a:rPr lang="en-GB" dirty="0"/>
              <a:t>Core cellular processes like RNA processing, splicing, and mRNA processing</a:t>
            </a:r>
          </a:p>
          <a:p>
            <a:r>
              <a:rPr lang="en-GB" dirty="0"/>
              <a:t>Chromatin and transcription regulation</a:t>
            </a:r>
          </a:p>
          <a:p>
            <a:r>
              <a:rPr lang="en-GB" dirty="0"/>
              <a:t>Cytoskeleton and intermediate filament organization</a:t>
            </a:r>
          </a:p>
          <a:p>
            <a:endParaRPr lang="en-GB" dirty="0"/>
          </a:p>
          <a:p>
            <a:r>
              <a:rPr lang="en-GB" dirty="0"/>
              <a:t>VP and VnP (less essential genes) show enrichment in:</a:t>
            </a:r>
          </a:p>
          <a:p>
            <a:endParaRPr lang="en-GB" dirty="0"/>
          </a:p>
          <a:p>
            <a:r>
              <a:rPr lang="en-GB" dirty="0"/>
              <a:t>Transport-related processes (ion, amino acid, organic acid)</a:t>
            </a:r>
          </a:p>
          <a:p>
            <a:r>
              <a:rPr lang="en-GB" dirty="0"/>
              <a:t>GPCR </a:t>
            </a:r>
            <a:r>
              <a:rPr lang="en-GB" dirty="0" err="1"/>
              <a:t>signaling</a:t>
            </a:r>
            <a:r>
              <a:rPr lang="en-GB" dirty="0"/>
              <a:t> and locomotion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782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30A0-56DC-1B22-34C3-FB7A5EF7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63775-2CF8-BF62-D164-24A10D0BA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3570C-CC1B-9A2D-EB34-2675B8198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US" dirty="0"/>
              <a:t>The majority of drugs are targeted toward cancer and systemic chronic diseases. Genetic and nervous system disorders also show growing attention. </a:t>
            </a:r>
          </a:p>
          <a:p>
            <a:r>
              <a:rPr lang="en-US" dirty="0"/>
              <a:t>However, a wide tail of rare or neglected diseases remains under-targeted — highlighting both gaps and opportunities in the drug development landscape.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A5AFE-FD61-F68F-1456-822654332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37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More drugs that are curated are in the open Targets </a:t>
            </a:r>
            <a:r>
              <a:rPr lang="en-GB" dirty="0" err="1"/>
              <a:t>databse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I tried looking for a reason for this discrepancy I could not find anything that would explain tis besides different criteria in considering what an active molecule. Also different in a drug being approved in certain areas while not in other area. Given that </a:t>
            </a:r>
            <a:r>
              <a:rPr lang="en-GB" dirty="0" err="1"/>
              <a:t>drugbank</a:t>
            </a:r>
            <a:r>
              <a:rPr lang="en-GB" dirty="0"/>
              <a:t> is mainly a US effort,.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477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Protein-coding genes are the standard focus</a:t>
            </a:r>
            <a:r>
              <a:rPr lang="en-US" dirty="0"/>
              <a:t> for therapeutic targeting in current datasets.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281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Most literature are that talk about non-coding DNA as having therapeutic potential are from 2016 to 2018.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0060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1B651-6332-4138-3007-44175C0CD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6C366-238D-49D3-3637-B9CD7AAAB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5DBAA-A781-2F89-D951-F945695E6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US" dirty="0"/>
              <a:t>The majority of drugs are targeted toward cancer and systemic chronic diseases. Genetic and nervous system disorders also show growing attention. </a:t>
            </a:r>
          </a:p>
          <a:p>
            <a:r>
              <a:rPr lang="en-US" dirty="0"/>
              <a:t>However, a wide tail of rare or neglected diseases remains under-targeted — highlighting both gaps and opportunities in the drug development landscape.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E190D-5D4E-9116-9965-8112B699D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848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172B1-ED4E-91D1-110F-50AB77A29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925B32-F2F1-37B2-3A61-40FB41C82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E6AB4-429B-7DF4-AE35-143D60152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74A80-B299-97B0-AD1D-D3B0FA6E3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777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F6ACD-0BF0-8FEA-62E2-06865C7F2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2BAE9-B69F-37E1-0F3C-230F5EF33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C6F28-18B6-82AC-E616-82DEE4074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gene has paralogues, </a:t>
            </a:r>
            <a:r>
              <a:rPr lang="en-US" b="1" dirty="0"/>
              <a:t>loss or inhibition</a:t>
            </a:r>
            <a:r>
              <a:rPr lang="en-US" dirty="0"/>
              <a:t> of its function may be </a:t>
            </a:r>
            <a:r>
              <a:rPr lang="en-US" b="1" dirty="0"/>
              <a:t>compensated by its paralog</a:t>
            </a:r>
            <a:r>
              <a:rPr lang="en-US" dirty="0"/>
              <a:t>, which could </a:t>
            </a:r>
            <a:r>
              <a:rPr lang="en-US" b="1" dirty="0"/>
              <a:t>reduce the risk of toxicity</a:t>
            </a:r>
          </a:p>
          <a:p>
            <a:endParaRPr lang="en-US" b="1" dirty="0"/>
          </a:p>
          <a:p>
            <a:r>
              <a:rPr lang="en-US" dirty="0"/>
              <a:t>On the flip side, targeting a gene with paralogues increases the chance of </a:t>
            </a:r>
            <a:r>
              <a:rPr lang="en-US" b="1" dirty="0"/>
              <a:t>cross-reactivity</a:t>
            </a:r>
            <a:r>
              <a:rPr lang="en-US" dirty="0"/>
              <a:t> — where the drug affects </a:t>
            </a:r>
            <a:r>
              <a:rPr lang="en-US" b="1" dirty="0"/>
              <a:t>related genes unintentionally</a:t>
            </a:r>
            <a:r>
              <a:rPr lang="en-US" dirty="0"/>
              <a:t>.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Roughly </a:t>
            </a:r>
            <a:r>
              <a:rPr lang="en-US" b="1" dirty="0"/>
              <a:t>69% of approved drug targets</a:t>
            </a:r>
            <a:r>
              <a:rPr lang="en-US" dirty="0"/>
              <a:t> have paralogues—similar to withdrawn drugs.</a:t>
            </a:r>
            <a:br>
              <a:rPr lang="en-US" dirty="0"/>
            </a:br>
            <a:r>
              <a:rPr lang="en-US" dirty="0"/>
              <a:t>So, paralogue presence alone isn’t a predictor of approval, but it may influence </a:t>
            </a:r>
            <a:r>
              <a:rPr lang="en-US" b="1" dirty="0"/>
              <a:t>safety outcomes</a:t>
            </a:r>
            <a:r>
              <a:rPr lang="en-US" dirty="0"/>
              <a:t>."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EF5E5-4425-6912-EC8D-98485B2F7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666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592BC-67A7-902A-B4E2-D123F260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1E563-438A-58A4-F1A7-71DF0DC4E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AC3F4-BF47-F989-85F7-8F8DA6B1B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Targeting a gene or a gene product that have fundamental cellular and biological processes could lead to increased toxicity and more likely the molecule would not pass safety checks.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9CC10-8AA9-51F9-E264-E42F397C7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372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B0646-8B62-D3C8-EAAD-25A90616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3A8DA-A566-D276-B807-A766A2255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3B7B5-CB8E-A9C5-AC58-30317D9CC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1E915-9CCE-AF28-4D91-EB5C46458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9900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0509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drugs may accumulate SE reports because they’re:</a:t>
            </a:r>
          </a:p>
          <a:p>
            <a:r>
              <a:rPr lang="en-US" b="1" dirty="0"/>
              <a:t>Heavily prescribed</a:t>
            </a:r>
            <a:r>
              <a:rPr lang="en-US" dirty="0"/>
              <a:t>, or</a:t>
            </a:r>
          </a:p>
          <a:p>
            <a:r>
              <a:rPr lang="en-US" dirty="0"/>
              <a:t>Subject to </a:t>
            </a:r>
            <a:r>
              <a:rPr lang="en-US" b="1" dirty="0"/>
              <a:t>close regulatory monitoring</a:t>
            </a:r>
            <a:r>
              <a:rPr lang="en-US" dirty="0"/>
              <a:t>.</a:t>
            </a:r>
          </a:p>
          <a:p>
            <a:endParaRPr lang="en-GB" dirty="0"/>
          </a:p>
          <a:p>
            <a:r>
              <a:rPr lang="en-GB" dirty="0"/>
              <a:t>Paracetamol and amoxicillin are highly use drugs. Could explain the number of Side effects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843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24C97-5E4C-9DBE-91EB-49BD940D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41C00-4E46-84DA-7BF3-B2450678B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7EF19-1FC7-8120-F5CA-9D2C06FC3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9F38A-12A3-96BB-8F20-230BF4B60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2099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A3C9E-B718-4F0C-B302-4B86841B9876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721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A900-8502-20DD-B101-735D070B5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908AE-747D-BC8C-F86A-A3A7F830D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0264-3A92-47C1-022A-DEE06978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6E50-3952-4A09-9E6C-485A68104050}" type="datetime1">
              <a:rPr lang="en-GB" smtClean="0"/>
              <a:t>30/07/2025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E4A29-5A14-2D1C-4288-DB55C5A19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Genotype-Phenotype Correlations in NDDs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72AF0-ACB7-F51F-3B14-545C3A10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08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3F0A-42F8-B060-266C-9DA98DF1A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ED31D-7C91-A2F4-F06E-CEBA56854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5F741-6BD9-A55D-796E-84D9944C0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8066B-5604-4722-A335-20D4516053E9}" type="datetime1">
              <a:rPr lang="en-GB" smtClean="0"/>
              <a:t>30/07/2025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681ED-DDF4-E942-B9E3-83C17F59A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Genotype-Phenotype Correlations in NDDs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F790-9126-A395-2D98-0B421639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68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1E237-B983-8FAE-198F-5EFC4C3E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DDF1D-B08D-14D4-F8ED-4D30A23BC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AC05F-41D8-55B7-F19F-231F98BFA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7A3E-8A71-43D6-9B75-35518278F258}" type="datetime1">
              <a:rPr lang="en-GB" smtClean="0"/>
              <a:t>30/07/2025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08B9C-BBDB-3489-C60A-6373CC23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Genotype-Phenotype Correlations in NDDs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54042-03CD-4F63-9210-297CBF4D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260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5F4C5-48FC-4D76-2209-1E997330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08D5A-97BE-0DA4-339D-F01994B17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DDB02-2E66-40E2-80A0-286E82FB9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3A3FA-0EBE-B7F6-042B-8A9A72ED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7644-BF44-4477-A8B6-D5D9050D76FE}" type="datetime1">
              <a:rPr lang="en-GB" smtClean="0"/>
              <a:t>30/07/2025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511C9-84A4-14A6-E678-106798A8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Genotype-Phenotype Correlations in NDDs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F0781-3A7E-D135-4F51-7D05A808C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230A-737A-DEFC-8BCE-8272AB84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98A14-E1D7-0332-BAD5-5CBD4D18A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36E22-C5EC-3618-BEB5-45A3994D8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7C40E-41FB-D91E-252E-9928AE499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2CC95-4403-3A98-3608-ECD83C9EA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5C2FF-FD50-B107-4CBE-318E3AAB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99F9B-91BB-4759-930F-E8CD66C2E12A}" type="datetime1">
              <a:rPr lang="en-GB" smtClean="0"/>
              <a:t>30/07/2025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502BC0-146D-D6F1-1622-F34F4517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Genotype-Phenotype Correlations in NDDs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CD6820-DFA4-EC03-1DEF-3FC6B44C3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069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EA0B-4F43-EB17-9BDE-FB1534090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6135F2-AD20-B73C-3566-80CF46FA0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88-83B9-4394-8CE2-7796028C287D}" type="datetime1">
              <a:rPr lang="en-GB" smtClean="0"/>
              <a:t>30/07/2025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B96A1-42B4-40B5-1A59-7BC61681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Genotype-Phenotype Correlations in NDDs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4CE61-5E6F-4B90-B3C0-620D134B4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05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C02BEC-5DC0-A7CA-EFF4-A973B331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860C-2289-47D1-A118-A3B5CF04EE39}" type="datetime1">
              <a:rPr lang="en-GB" smtClean="0"/>
              <a:t>30/07/2025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B060B-47C3-5C40-8A72-8002878F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Genotype-Phenotype Correlations in NDDs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A385C-B4F1-57D0-B8B1-745925865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35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A0E33-8DA7-326E-7BA0-4F907CCCA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3FDC-A770-7A63-48B2-D1FE94063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F494E-C917-8E0F-4BA1-73E7A106A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C8BD2-4254-4921-A2B8-11632B19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3FD5-97A4-4BBE-860A-91D206193873}" type="datetime1">
              <a:rPr lang="en-GB" smtClean="0"/>
              <a:t>30/07/2025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1C4C1-1D2A-5E3D-CCC5-D1D43F42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Genotype-Phenotype Correlations in NDDs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4498B-4D1D-2715-705F-C65118A5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5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861B-B54B-9BA6-D608-0A255E20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E4932A-A99E-6781-8F67-FDD82DCBD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43822-E3BC-A63D-D4F4-DB9FBA94B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74CAB-098B-C254-0667-1DB4AB70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92C2-F3AE-45F9-A94B-53222A61EBD8}" type="datetime1">
              <a:rPr lang="en-GB" smtClean="0"/>
              <a:t>30/07/2025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C356B-B7B3-05A3-E156-10AB98BF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Genotype-Phenotype Correlations in NDDs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9B5E4-B547-7710-8FE0-37328D2D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833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3D91C-5AA8-43C5-C07A-26E39DCC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4F5E3-953A-B559-7465-E4A9C1AAC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EFB05-C3FB-04E5-321F-DF1F612B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2C475-3905-4714-8433-E1C929CC0D18}" type="datetime1">
              <a:rPr lang="en-GB" smtClean="0"/>
              <a:t>30/07/2025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7BD8F-010E-34C8-4683-B6190F72E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Genotype-Phenotype Correlations in NDDs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00AD2-6035-0DDA-BAE0-A81584E8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62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741ACB-BC6E-74CF-0621-4FF9E71CA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22FFB-27F9-0633-7192-4818F5CB8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06C04-7AD1-B472-5DBA-EC9D0969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AE85E-8B1E-44E4-919F-91C37CEFD3C4}" type="datetime1">
              <a:rPr lang="en-GB" smtClean="0"/>
              <a:t>30/07/2025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A38D-A024-2A80-4610-86BB7646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Genotype-Phenotype Correlations in NDDs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A632D-EA62-9212-3BBD-84D96159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66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A4F97-C3D9-8C02-5AFD-9846DE210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E1788-C54A-916D-18EB-7658F35C6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A5628-C35F-EACB-96C6-12A204380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66388-C661-4A01-AAA4-316A9C1F3E2B}" type="datetime1">
              <a:rPr lang="en-GB" smtClean="0"/>
              <a:t>30/07/2025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3514B-5D94-1F36-E59C-CF4D1DAFB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Genotype-Phenotype Correlations in NDDs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3E8D4-FA17-2377-602F-98715FFD4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5350B-A8ED-4C36-B26C-7513F01B2B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7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4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.png"/><Relationship Id="rId9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4B46-6D37-5F51-9AA9-5479E6C90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5074023"/>
            <a:ext cx="10109199" cy="755269"/>
          </a:xfrm>
        </p:spPr>
        <p:txBody>
          <a:bodyPr anchor="ctr">
            <a:normAutofit/>
          </a:bodyPr>
          <a:lstStyle/>
          <a:p>
            <a:pPr algn="l"/>
            <a:r>
              <a:rPr lang="en-GB" sz="1800" b="1" dirty="0">
                <a:solidFill>
                  <a:schemeClr val="bg1"/>
                </a:solidFill>
              </a:rPr>
              <a:t>Functional Genomics and Drug Targets: </a:t>
            </a:r>
            <a:r>
              <a:rPr lang="en-US" sz="1800" b="1" dirty="0">
                <a:solidFill>
                  <a:schemeClr val="bg1"/>
                </a:solidFill>
              </a:rPr>
              <a:t>The Role of Paralogues and Essentiality in Drug Safety</a:t>
            </a:r>
            <a:endParaRPr lang="en-GB" sz="1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31B5B-06D1-6460-A622-C6C7A8736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1" y="5882490"/>
            <a:ext cx="2276475" cy="418613"/>
          </a:xfrm>
        </p:spPr>
        <p:txBody>
          <a:bodyPr anchor="t">
            <a:norm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Hussein Kassir</a:t>
            </a:r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285D54FA-F281-489A-B2DB-0E8FB7008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0" b="11968"/>
          <a:stretch>
            <a:fillRect/>
          </a:stretch>
        </p:blipFill>
        <p:spPr>
          <a:xfrm>
            <a:off x="20" y="-39"/>
            <a:ext cx="12191980" cy="41727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20E13-E1D0-E4A4-7F1E-E63AF212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>
                <a:solidFill>
                  <a:schemeClr val="bg1"/>
                </a:solidFill>
              </a:rPr>
              <a:t>1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914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181C0-15C6-F318-16B4-26ED2922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2B3EEA-5830-3D15-73E4-FDF19A601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AE07-BB36-4041-B869-5219E0C36ED9}" type="datetime1">
              <a:rPr lang="en-GB" smtClean="0">
                <a:solidFill>
                  <a:schemeClr val="bg1"/>
                </a:solidFill>
              </a:rPr>
              <a:t>30/07/2025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93205-68BA-A0AE-F5D4-8E413FFE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>
                <a:solidFill>
                  <a:schemeClr val="bg1"/>
                </a:solidFill>
              </a:rPr>
              <a:t>2</a:t>
            </a:fld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2" name="Picture 11" descr="A logo for a company&#10;&#10;AI-generated content may be incorrect.">
            <a:extLst>
              <a:ext uri="{FF2B5EF4-FFF2-40B4-BE49-F238E27FC236}">
                <a16:creationId xmlns:a16="http://schemas.microsoft.com/office/drawing/2014/main" id="{CF2F6D76-7567-8EC4-B270-DA1F524B9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933" y="1889759"/>
            <a:ext cx="1482970" cy="520941"/>
          </a:xfrm>
          <a:prstGeom prst="rect">
            <a:avLst/>
          </a:prstGeom>
        </p:spPr>
      </p:pic>
      <p:pic>
        <p:nvPicPr>
          <p:cNvPr id="16" name="Picture 15" descr="A black background with a blue and white text&#10;&#10;AI-generated content may be incorrect.">
            <a:extLst>
              <a:ext uri="{FF2B5EF4-FFF2-40B4-BE49-F238E27FC236}">
                <a16:creationId xmlns:a16="http://schemas.microsoft.com/office/drawing/2014/main" id="{12460C8F-1FA3-E9F1-7BC2-B9CE3B9E0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121" y="2538966"/>
            <a:ext cx="1780068" cy="890034"/>
          </a:xfrm>
          <a:prstGeom prst="rect">
            <a:avLst/>
          </a:prstGeom>
        </p:spPr>
      </p:pic>
      <p:pic>
        <p:nvPicPr>
          <p:cNvPr id="3076" name="Picture 4" descr="Ensembl name and logo policy">
            <a:extLst>
              <a:ext uri="{FF2B5EF4-FFF2-40B4-BE49-F238E27FC236}">
                <a16:creationId xmlns:a16="http://schemas.microsoft.com/office/drawing/2014/main" id="{B1B94194-5769-AB4B-8F5B-680BB532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013" y="3557266"/>
            <a:ext cx="1561775" cy="56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Yellow Card Scheme – Apps on Google Play">
            <a:extLst>
              <a:ext uri="{FF2B5EF4-FFF2-40B4-BE49-F238E27FC236}">
                <a16:creationId xmlns:a16="http://schemas.microsoft.com/office/drawing/2014/main" id="{AF8D355C-2D00-C623-1322-72AC8C0CC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4133" y="4250025"/>
            <a:ext cx="1252147" cy="62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pplications invited for the role of Chair of the MHRA - GOV.UK">
            <a:extLst>
              <a:ext uri="{FF2B5EF4-FFF2-40B4-BE49-F238E27FC236}">
                <a16:creationId xmlns:a16="http://schemas.microsoft.com/office/drawing/2014/main" id="{B89C8435-7B20-FD3A-5AEC-F4F932858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6663" y="4250025"/>
            <a:ext cx="1195492" cy="75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F802AD-9D9F-7015-CAF2-A411B4BD0FBF}"/>
              </a:ext>
            </a:extLst>
          </p:cNvPr>
          <p:cNvSpPr txBox="1"/>
          <p:nvPr/>
        </p:nvSpPr>
        <p:spPr>
          <a:xfrm>
            <a:off x="489097" y="822960"/>
            <a:ext cx="79036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Hypothesis: Side effects may arise from drug action on paralogues, not just primary targets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Identify enrichment of certain SE clusters within the different essentiality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E8755F82-2052-CD96-5D7F-344773C0AD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8554538"/>
              </p:ext>
            </p:extLst>
          </p:nvPr>
        </p:nvGraphicFramePr>
        <p:xfrm>
          <a:off x="751840" y="2677498"/>
          <a:ext cx="6675120" cy="3357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3C2335D-152D-94A5-7ACA-D4B353562A14}"/>
              </a:ext>
            </a:extLst>
          </p:cNvPr>
          <p:cNvSpPr txBox="1">
            <a:spLocks/>
          </p:cNvSpPr>
          <p:nvPr/>
        </p:nvSpPr>
        <p:spPr>
          <a:xfrm>
            <a:off x="1028895" y="158991"/>
            <a:ext cx="10324905" cy="75111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bg1"/>
                </a:solidFill>
                <a:ea typeface="+mn-ea"/>
                <a:cs typeface="+mn-cs"/>
              </a:rPr>
              <a:t>Current Project Investigates Functional Genomics and Drug Targets</a:t>
            </a:r>
          </a:p>
        </p:txBody>
      </p:sp>
    </p:spTree>
    <p:extLst>
      <p:ext uri="{BB962C8B-B14F-4D97-AF65-F5344CB8AC3E}">
        <p14:creationId xmlns:p14="http://schemas.microsoft.com/office/powerpoint/2010/main" val="34940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584ADF-9120-78CA-46AD-29BC8B40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860C-2289-47D1-A118-A3B5CF04EE39}" type="datetime1">
              <a:rPr lang="en-GB" smtClean="0"/>
              <a:t>30/07/2025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4109C-843D-A487-6B43-67594BF4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3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80C4-02E0-5BC5-0338-8F44CE4BFFC3}"/>
              </a:ext>
            </a:extLst>
          </p:cNvPr>
          <p:cNvSpPr txBox="1"/>
          <p:nvPr/>
        </p:nvSpPr>
        <p:spPr>
          <a:xfrm>
            <a:off x="251041" y="1182834"/>
            <a:ext cx="111027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2"/>
                </a:solidFill>
              </a:rPr>
              <a:t>Cacheiro et al. (2020) </a:t>
            </a:r>
            <a:r>
              <a:rPr lang="en-GB" sz="2000" b="1" dirty="0">
                <a:solidFill>
                  <a:schemeClr val="bg1"/>
                </a:solidFill>
              </a:rPr>
              <a:t>Propose </a:t>
            </a:r>
            <a:r>
              <a:rPr lang="en-US" sz="2000" b="1" i="0" dirty="0">
                <a:solidFill>
                  <a:schemeClr val="bg1"/>
                </a:solidFill>
                <a:effectLst/>
              </a:rPr>
              <a:t>a cross-species gene classification across the Full Spectrum of Intolerance to Loss-of-function (FUSIL) 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E79246-32FA-7D4A-9716-384289893042}"/>
              </a:ext>
            </a:extLst>
          </p:cNvPr>
          <p:cNvSpPr txBox="1"/>
          <p:nvPr/>
        </p:nvSpPr>
        <p:spPr>
          <a:xfrm>
            <a:off x="322070" y="2426505"/>
            <a:ext cx="56875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Provides a framework to categorize genes based on essentiality and phenotypic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for 7060 Genes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Cellular lethal (CL): essential for both cell and organism survival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Developmental lethal (DL): not essential for cells, but critical for the organism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Sub-viable (SV): reduced survival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Viable (V):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	VP: viable with phenotypes</a:t>
            </a:r>
          </a:p>
          <a:p>
            <a:r>
              <a:rPr lang="en-GB" dirty="0">
                <a:solidFill>
                  <a:schemeClr val="bg1"/>
                </a:solidFill>
              </a:rPr>
              <a:t>	VnP: viable with no phenotype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17AE17C-719D-8B2C-E73D-8643A654F2AD}"/>
              </a:ext>
            </a:extLst>
          </p:cNvPr>
          <p:cNvSpPr txBox="1">
            <a:spLocks/>
          </p:cNvSpPr>
          <p:nvPr/>
        </p:nvSpPr>
        <p:spPr>
          <a:xfrm>
            <a:off x="801996" y="303744"/>
            <a:ext cx="10324905" cy="75111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bg1"/>
                </a:solidFill>
                <a:ea typeface="+mn-ea"/>
                <a:cs typeface="+mn-cs"/>
              </a:rPr>
              <a:t>Current Project Investigates Functional Genomics and Drug Targets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C4A081-74B7-991D-40D6-2C053C850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32494"/>
            <a:ext cx="5864187" cy="386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7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D43B2-52D3-9A1D-F4EA-AF9E645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3FD5-97A4-4BBE-860A-91D206193873}" type="datetime1">
              <a:rPr lang="en-GB" smtClean="0"/>
              <a:t>30/07/2025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C0C2E-0099-09CC-478D-8E6AB590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4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688BD2-661D-6174-89F6-1916CBC972D6}"/>
              </a:ext>
            </a:extLst>
          </p:cNvPr>
          <p:cNvSpPr txBox="1"/>
          <p:nvPr/>
        </p:nvSpPr>
        <p:spPr>
          <a:xfrm>
            <a:off x="447773" y="386499"/>
            <a:ext cx="8517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Understanding Paralogy &amp; Gene Essentiality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4F0755-79FF-8E44-0DB6-2D952318B6B3}"/>
              </a:ext>
            </a:extLst>
          </p:cNvPr>
          <p:cNvSpPr txBox="1"/>
          <p:nvPr/>
        </p:nvSpPr>
        <p:spPr>
          <a:xfrm>
            <a:off x="447773" y="1443841"/>
            <a:ext cx="62075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What is a Gene Paralogue ?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Paralogues, in addition to Orthologues, are two types of a homologous genes.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Homologs have common origins, however, they may or may not have a common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Identified using homology searches and sequence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Orthologs evolved from a common ancestral gene through speciation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Paralogues evolved through a gene duplication event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95C0F-1B0F-F707-EF13-8A68664FBB22}"/>
              </a:ext>
            </a:extLst>
          </p:cNvPr>
          <p:cNvSpPr txBox="1"/>
          <p:nvPr/>
        </p:nvSpPr>
        <p:spPr>
          <a:xfrm>
            <a:off x="9638908" y="6400412"/>
            <a:ext cx="1489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>
                <a:solidFill>
                  <a:schemeClr val="bg1"/>
                </a:solidFill>
              </a:rPr>
              <a:t>Koonin</a:t>
            </a:r>
            <a:r>
              <a:rPr lang="en-GB" sz="1200" dirty="0">
                <a:solidFill>
                  <a:schemeClr val="bg1"/>
                </a:solidFill>
              </a:rPr>
              <a:t> et al. (2005)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5CEA13-77AE-DFBD-C2CA-6EAB4ED31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986" y="617331"/>
            <a:ext cx="3795468" cy="1897734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CA53D0-812F-6AF7-821F-6ED75CCBB657}"/>
              </a:ext>
            </a:extLst>
          </p:cNvPr>
          <p:cNvSpPr txBox="1"/>
          <p:nvPr/>
        </p:nvSpPr>
        <p:spPr>
          <a:xfrm>
            <a:off x="7696986" y="2559127"/>
            <a:ext cx="3754814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Sequence Similarity between </a:t>
            </a:r>
            <a:r>
              <a:rPr lang="en-GB" sz="1000" dirty="0">
                <a:solidFill>
                  <a:schemeClr val="accent2"/>
                </a:solidFill>
              </a:rPr>
              <a:t>Human Alpha </a:t>
            </a:r>
            <a:r>
              <a:rPr lang="en-GB" sz="1000" dirty="0">
                <a:solidFill>
                  <a:schemeClr val="bg1"/>
                </a:solidFill>
              </a:rPr>
              <a:t>and </a:t>
            </a:r>
            <a:r>
              <a:rPr lang="en-GB" sz="1000" dirty="0">
                <a:solidFill>
                  <a:schemeClr val="accent2"/>
                </a:solidFill>
              </a:rPr>
              <a:t>Beta Globin </a:t>
            </a:r>
            <a:r>
              <a:rPr lang="en-GB" sz="1000" dirty="0">
                <a:solidFill>
                  <a:schemeClr val="bg1"/>
                </a:solidFill>
              </a:rPr>
              <a:t>Genes ( Paralogues)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9C66FF-0553-87E6-9407-616304451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892" y="3429000"/>
            <a:ext cx="3839656" cy="211926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EE7BBD-4F77-91C1-5643-8C53576F0877}"/>
              </a:ext>
            </a:extLst>
          </p:cNvPr>
          <p:cNvSpPr txBox="1"/>
          <p:nvPr/>
        </p:nvSpPr>
        <p:spPr>
          <a:xfrm>
            <a:off x="7674892" y="5617916"/>
            <a:ext cx="3754814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Sequence Similarity between </a:t>
            </a:r>
            <a:r>
              <a:rPr lang="en-GB" sz="1000" dirty="0">
                <a:solidFill>
                  <a:schemeClr val="accent2"/>
                </a:solidFill>
              </a:rPr>
              <a:t>Human Alpha </a:t>
            </a:r>
            <a:r>
              <a:rPr lang="en-GB" sz="1000" dirty="0">
                <a:solidFill>
                  <a:schemeClr val="bg1"/>
                </a:solidFill>
              </a:rPr>
              <a:t>and </a:t>
            </a:r>
            <a:r>
              <a:rPr lang="en-GB" sz="1000" u="sng" dirty="0">
                <a:solidFill>
                  <a:schemeClr val="accent2"/>
                </a:solidFill>
              </a:rPr>
              <a:t>Chicken</a:t>
            </a:r>
            <a:r>
              <a:rPr lang="en-GB" sz="1000" dirty="0">
                <a:solidFill>
                  <a:schemeClr val="accent2"/>
                </a:solidFill>
              </a:rPr>
              <a:t> Beta Globin </a:t>
            </a:r>
            <a:r>
              <a:rPr lang="en-GB" sz="1000" dirty="0">
                <a:solidFill>
                  <a:schemeClr val="bg1"/>
                </a:solidFill>
              </a:rPr>
              <a:t>Genes ( </a:t>
            </a:r>
            <a:r>
              <a:rPr lang="en-GB" sz="1000" dirty="0" err="1">
                <a:solidFill>
                  <a:schemeClr val="bg1"/>
                </a:solidFill>
              </a:rPr>
              <a:t>Ortholgues</a:t>
            </a:r>
            <a:r>
              <a:rPr lang="en-GB" sz="10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4094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/>
        </p:nvSpPr>
        <p:spPr>
          <a:xfrm>
            <a:off x="4641851" y="981075"/>
            <a:ext cx="2602647" cy="425450"/>
          </a:xfrm>
          <a:prstGeom prst="roundRect">
            <a:avLst>
              <a:gd name="adj" fmla="val 3600"/>
            </a:avLst>
          </a:prstGeom>
          <a:solidFill>
            <a:srgbClr val="339966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Early globin gene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2084389" y="2998788"/>
            <a:ext cx="1187450" cy="427037"/>
          </a:xfrm>
          <a:prstGeom prst="roundRect">
            <a:avLst>
              <a:gd name="adj" fmla="val 3600"/>
            </a:avLst>
          </a:prstGeom>
          <a:solidFill>
            <a:srgbClr val="FF66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mouse </a:t>
            </a:r>
            <a:r>
              <a:rPr lang="en-US" sz="1600" b="1" dirty="0">
                <a:solidFill>
                  <a:schemeClr val="bg1"/>
                </a:solidFill>
                <a:cs typeface="Arial"/>
                <a:sym typeface="Noto Sans Symbols"/>
              </a:rPr>
              <a:t>α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78" name="Google Shape;78;p11"/>
          <p:cNvSpPr/>
          <p:nvPr/>
        </p:nvSpPr>
        <p:spPr>
          <a:xfrm rot="-5400000">
            <a:off x="4016376" y="2043112"/>
            <a:ext cx="320675" cy="3187700"/>
          </a:xfrm>
          <a:prstGeom prst="leftBrace">
            <a:avLst>
              <a:gd name="adj1" fmla="val 1800"/>
              <a:gd name="adj2" fmla="val 10800"/>
            </a:avLst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/>
          <p:nvPr/>
        </p:nvSpPr>
        <p:spPr>
          <a:xfrm rot="5400000">
            <a:off x="6088856" y="821531"/>
            <a:ext cx="317500" cy="7313612"/>
          </a:xfrm>
          <a:prstGeom prst="rightBrace">
            <a:avLst>
              <a:gd name="adj1" fmla="val 8333"/>
              <a:gd name="adj2" fmla="val 10796"/>
            </a:avLst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7081837" y="2097087"/>
            <a:ext cx="1798212" cy="423862"/>
          </a:xfrm>
          <a:prstGeom prst="roundRect">
            <a:avLst>
              <a:gd name="adj" fmla="val 3600"/>
            </a:avLst>
          </a:prstGeom>
          <a:solidFill>
            <a:srgbClr val="00B8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ß-chain gene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3243263" y="2097087"/>
            <a:ext cx="1903411" cy="423862"/>
          </a:xfrm>
          <a:prstGeom prst="roundRect">
            <a:avLst>
              <a:gd name="adj" fmla="val 3600"/>
            </a:avLst>
          </a:prstGeom>
          <a:solidFill>
            <a:srgbClr val="FF66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Noto Sans Symbols"/>
              </a:rPr>
              <a:t>α</a:t>
            </a: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-chain gene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6418215" y="2998787"/>
            <a:ext cx="1103362" cy="425450"/>
          </a:xfrm>
          <a:prstGeom prst="roundRect">
            <a:avLst>
              <a:gd name="adj" fmla="val 3600"/>
            </a:avLst>
          </a:prstGeom>
          <a:solidFill>
            <a:srgbClr val="00B8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cattle ß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83" name="Google Shape;83;p11"/>
          <p:cNvSpPr/>
          <p:nvPr/>
        </p:nvSpPr>
        <p:spPr>
          <a:xfrm>
            <a:off x="7696200" y="2998787"/>
            <a:ext cx="1182738" cy="425450"/>
          </a:xfrm>
          <a:prstGeom prst="roundRect">
            <a:avLst>
              <a:gd name="adj" fmla="val 3600"/>
            </a:avLst>
          </a:prstGeom>
          <a:solidFill>
            <a:srgbClr val="00B8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human ß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84" name="Google Shape;84;p11"/>
          <p:cNvSpPr/>
          <p:nvPr/>
        </p:nvSpPr>
        <p:spPr>
          <a:xfrm>
            <a:off x="9085263" y="2998788"/>
            <a:ext cx="1103362" cy="427037"/>
          </a:xfrm>
          <a:prstGeom prst="roundRect">
            <a:avLst>
              <a:gd name="adj" fmla="val 3600"/>
            </a:avLst>
          </a:prstGeom>
          <a:solidFill>
            <a:srgbClr val="00B8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mouse ß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3454401" y="2998787"/>
            <a:ext cx="1187450" cy="425450"/>
          </a:xfrm>
          <a:prstGeom prst="roundRect">
            <a:avLst>
              <a:gd name="adj" fmla="val 3600"/>
            </a:avLst>
          </a:prstGeom>
          <a:solidFill>
            <a:srgbClr val="FF66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human </a:t>
            </a:r>
            <a:r>
              <a:rPr lang="en-US" sz="1600" b="1" dirty="0">
                <a:solidFill>
                  <a:schemeClr val="bg1"/>
                </a:solidFill>
                <a:cs typeface="Arial"/>
                <a:sym typeface="Noto Sans Symbols"/>
              </a:rPr>
              <a:t>α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4835525" y="2998787"/>
            <a:ext cx="1103362" cy="425450"/>
          </a:xfrm>
          <a:prstGeom prst="roundRect">
            <a:avLst>
              <a:gd name="adj" fmla="val 3600"/>
            </a:avLst>
          </a:prstGeom>
          <a:solidFill>
            <a:srgbClr val="FF66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cattle </a:t>
            </a:r>
            <a:r>
              <a:rPr lang="en-US" sz="1600" b="1" dirty="0">
                <a:solidFill>
                  <a:schemeClr val="bg1"/>
                </a:solidFill>
                <a:cs typeface="Arial"/>
                <a:sym typeface="Noto Sans Symbols"/>
              </a:rPr>
              <a:t>α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cxnSp>
        <p:nvCxnSpPr>
          <p:cNvPr id="87" name="Google Shape;87;p11"/>
          <p:cNvCxnSpPr/>
          <p:nvPr/>
        </p:nvCxnSpPr>
        <p:spPr>
          <a:xfrm flipH="1">
            <a:off x="4643438" y="1406525"/>
            <a:ext cx="1381125" cy="690562"/>
          </a:xfrm>
          <a:prstGeom prst="straightConnector1">
            <a:avLst/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8" name="Google Shape;88;p11"/>
          <p:cNvCxnSpPr/>
          <p:nvPr/>
        </p:nvCxnSpPr>
        <p:spPr>
          <a:xfrm flipH="1">
            <a:off x="3206750" y="2522538"/>
            <a:ext cx="817562" cy="477837"/>
          </a:xfrm>
          <a:prstGeom prst="straightConnector1">
            <a:avLst/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9" name="Google Shape;89;p11"/>
          <p:cNvCxnSpPr/>
          <p:nvPr/>
        </p:nvCxnSpPr>
        <p:spPr>
          <a:xfrm>
            <a:off x="4021138" y="2522538"/>
            <a:ext cx="1252537" cy="477837"/>
          </a:xfrm>
          <a:prstGeom prst="straightConnector1">
            <a:avLst/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0" name="Google Shape;90;p11"/>
          <p:cNvCxnSpPr/>
          <p:nvPr/>
        </p:nvCxnSpPr>
        <p:spPr>
          <a:xfrm flipH="1">
            <a:off x="4079875" y="2735262"/>
            <a:ext cx="506412" cy="265112"/>
          </a:xfrm>
          <a:prstGeom prst="straightConnector1">
            <a:avLst/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1" name="Google Shape;91;p11"/>
          <p:cNvCxnSpPr/>
          <p:nvPr/>
        </p:nvCxnSpPr>
        <p:spPr>
          <a:xfrm rot="10800000">
            <a:off x="6081713" y="1403350"/>
            <a:ext cx="1381125" cy="696912"/>
          </a:xfrm>
          <a:prstGeom prst="straightConnector1">
            <a:avLst/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2" name="Google Shape;92;p11"/>
          <p:cNvCxnSpPr/>
          <p:nvPr/>
        </p:nvCxnSpPr>
        <p:spPr>
          <a:xfrm>
            <a:off x="8086725" y="2522538"/>
            <a:ext cx="1187450" cy="477837"/>
          </a:xfrm>
          <a:prstGeom prst="straightConnector1">
            <a:avLst/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3" name="Google Shape;93;p11"/>
          <p:cNvCxnSpPr/>
          <p:nvPr/>
        </p:nvCxnSpPr>
        <p:spPr>
          <a:xfrm flipH="1">
            <a:off x="7019926" y="2522538"/>
            <a:ext cx="1069975" cy="477837"/>
          </a:xfrm>
          <a:prstGeom prst="straightConnector1">
            <a:avLst/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4" name="Google Shape;94;p11"/>
          <p:cNvCxnSpPr/>
          <p:nvPr/>
        </p:nvCxnSpPr>
        <p:spPr>
          <a:xfrm>
            <a:off x="7648575" y="2735262"/>
            <a:ext cx="685800" cy="265112"/>
          </a:xfrm>
          <a:prstGeom prst="straightConnector1">
            <a:avLst/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5" name="Google Shape;95;p11"/>
          <p:cNvSpPr/>
          <p:nvPr/>
        </p:nvSpPr>
        <p:spPr>
          <a:xfrm rot="-5400000">
            <a:off x="8015288" y="1981201"/>
            <a:ext cx="320675" cy="3311525"/>
          </a:xfrm>
          <a:prstGeom prst="leftBrace">
            <a:avLst>
              <a:gd name="adj1" fmla="val 1800"/>
              <a:gd name="adj2" fmla="val 10800"/>
            </a:avLst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3243263" y="3741737"/>
            <a:ext cx="1343024" cy="425450"/>
          </a:xfrm>
          <a:prstGeom prst="roundRect">
            <a:avLst>
              <a:gd name="adj" fmla="val 3600"/>
            </a:avLst>
          </a:prstGeom>
          <a:solidFill>
            <a:srgbClr val="FF6600">
              <a:alpha val="0"/>
            </a:srgbClr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Orthologs (</a:t>
            </a:r>
            <a:r>
              <a:rPr lang="en-US" sz="1600" b="1" dirty="0">
                <a:solidFill>
                  <a:schemeClr val="bg1"/>
                </a:solidFill>
                <a:cs typeface="Arial"/>
                <a:sym typeface="Noto Sans Symbols"/>
              </a:rPr>
              <a:t>α</a:t>
            </a: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)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97" name="Google Shape;97;p11"/>
          <p:cNvSpPr/>
          <p:nvPr/>
        </p:nvSpPr>
        <p:spPr>
          <a:xfrm>
            <a:off x="7712074" y="3741737"/>
            <a:ext cx="1370013" cy="425450"/>
          </a:xfrm>
          <a:prstGeom prst="roundRect">
            <a:avLst>
              <a:gd name="adj" fmla="val 3600"/>
            </a:avLst>
          </a:prstGeom>
          <a:solidFill>
            <a:srgbClr val="FF6600">
              <a:alpha val="0"/>
            </a:srgbClr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Orthologs (ß)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98" name="Google Shape;98;p11"/>
          <p:cNvSpPr/>
          <p:nvPr/>
        </p:nvSpPr>
        <p:spPr>
          <a:xfrm rot="5400000">
            <a:off x="5995988" y="2598738"/>
            <a:ext cx="371475" cy="2562225"/>
          </a:xfrm>
          <a:prstGeom prst="rightBrace">
            <a:avLst>
              <a:gd name="adj1" fmla="val 1800"/>
              <a:gd name="adj2" fmla="val 10800"/>
            </a:avLst>
          </a:prstGeom>
          <a:noFill/>
          <a:ln w="284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5467546" y="3956050"/>
            <a:ext cx="1286709" cy="423862"/>
          </a:xfrm>
          <a:prstGeom prst="roundRect">
            <a:avLst>
              <a:gd name="adj" fmla="val 3600"/>
            </a:avLst>
          </a:prstGeom>
          <a:solidFill>
            <a:srgbClr val="FF6600">
              <a:alpha val="0"/>
            </a:srgbClr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Paralogs (cattle)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5409168" y="4538662"/>
            <a:ext cx="1345087" cy="425450"/>
          </a:xfrm>
          <a:prstGeom prst="roundRect">
            <a:avLst>
              <a:gd name="adj" fmla="val 3600"/>
            </a:avLst>
          </a:prstGeom>
          <a:solidFill>
            <a:srgbClr val="FF6600">
              <a:alpha val="0"/>
            </a:srgbClr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Arial"/>
              </a:rPr>
              <a:t>Homologs</a:t>
            </a:r>
            <a:r>
              <a:rPr lang="en-US" sz="1600" b="1" dirty="0">
                <a:solidFill>
                  <a:schemeClr val="bg1"/>
                </a:solidFill>
                <a:cs typeface="Arial"/>
                <a:sym typeface="Times New Roman"/>
              </a:rPr>
              <a:t> 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102" name="Google Shape;102;p11"/>
          <p:cNvSpPr txBox="1"/>
          <p:nvPr/>
        </p:nvSpPr>
        <p:spPr>
          <a:xfrm>
            <a:off x="491616" y="5232475"/>
            <a:ext cx="11180190" cy="1356398"/>
          </a:xfrm>
          <a:prstGeom prst="rect">
            <a:avLst/>
          </a:prstGeom>
          <a:solidFill>
            <a:srgbClr val="0A397D"/>
          </a:solidFill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US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Orthologs – diverged after speciation – </a:t>
            </a:r>
            <a:r>
              <a:rPr lang="en-US" b="1" i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tend to have similar function</a:t>
            </a:r>
            <a:endParaRPr dirty="0"/>
          </a:p>
          <a:p>
            <a:pPr>
              <a:buClr>
                <a:srgbClr val="000000"/>
              </a:buClr>
              <a:buSzPts val="1400"/>
            </a:pPr>
            <a:endParaRPr sz="1400" b="1" i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FFFFFF"/>
              </a:buClr>
              <a:buSzPts val="1800"/>
            </a:pPr>
            <a:r>
              <a:rPr lang="en-US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Paralogs – diverged after gene duplication – </a:t>
            </a:r>
            <a:r>
              <a:rPr lang="en-US" b="1" i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some functional divergence occurs</a:t>
            </a:r>
            <a:endParaRPr dirty="0"/>
          </a:p>
          <a:p>
            <a:pPr>
              <a:buClr>
                <a:srgbClr val="000000"/>
              </a:buClr>
              <a:buSzPts val="1400"/>
            </a:pPr>
            <a:endParaRPr sz="1400" b="1" i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b="1" i="1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1;p11">
            <a:extLst>
              <a:ext uri="{FF2B5EF4-FFF2-40B4-BE49-F238E27FC236}">
                <a16:creationId xmlns:a16="http://schemas.microsoft.com/office/drawing/2014/main" id="{B7331E4B-ECC2-E531-7F9A-5E81517DCEA0}"/>
              </a:ext>
            </a:extLst>
          </p:cNvPr>
          <p:cNvSpPr/>
          <p:nvPr/>
        </p:nvSpPr>
        <p:spPr>
          <a:xfrm>
            <a:off x="4977353" y="1538287"/>
            <a:ext cx="1982249" cy="423862"/>
          </a:xfrm>
          <a:prstGeom prst="roundRect">
            <a:avLst>
              <a:gd name="adj" fmla="val 3600"/>
            </a:avLst>
          </a:prstGeom>
          <a:solidFill>
            <a:schemeClr val="accent5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chemeClr val="bg1"/>
                </a:solidFill>
                <a:cs typeface="Arial"/>
                <a:sym typeface="Noto Sans Symbols"/>
              </a:rPr>
              <a:t>Gene Duplication</a:t>
            </a:r>
            <a:endParaRPr sz="16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9DD32-AEC4-C945-95EA-AB00F163E01E}"/>
              </a:ext>
            </a:extLst>
          </p:cNvPr>
          <p:cNvSpPr txBox="1"/>
          <p:nvPr/>
        </p:nvSpPr>
        <p:spPr>
          <a:xfrm>
            <a:off x="9709608" y="6311874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Alastair Kerr, PhD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ADEC2-18E4-BCDF-583C-18E4C96D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3FD5-97A4-4BBE-860A-91D206193873}" type="datetime1">
              <a:rPr lang="en-GB" smtClean="0"/>
              <a:t>30/07/2025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960E5-7E36-DB76-A1A5-8228409EB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6</a:t>
            </a:fld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19E474-4EC1-CDF3-805E-EA1F8F19A8CF}"/>
              </a:ext>
            </a:extLst>
          </p:cNvPr>
          <p:cNvSpPr txBox="1"/>
          <p:nvPr/>
        </p:nvSpPr>
        <p:spPr>
          <a:xfrm>
            <a:off x="435204" y="200543"/>
            <a:ext cx="9976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Observe Discrepancies in Paralogy among the FUSIL Categories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AD612E-EB6C-FA24-8892-074D484856DF}"/>
              </a:ext>
            </a:extLst>
          </p:cNvPr>
          <p:cNvSpPr txBox="1"/>
          <p:nvPr/>
        </p:nvSpPr>
        <p:spPr>
          <a:xfrm>
            <a:off x="435203" y="1729819"/>
            <a:ext cx="53528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Genes that are more essential exhibit a significantly lower percentage of paralogues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Almost 80% of the </a:t>
            </a:r>
            <a:r>
              <a:rPr lang="en-GB" dirty="0">
                <a:solidFill>
                  <a:schemeClr val="accent2"/>
                </a:solidFill>
              </a:rPr>
              <a:t>CL</a:t>
            </a:r>
            <a:r>
              <a:rPr lang="en-GB" dirty="0">
                <a:solidFill>
                  <a:schemeClr val="bg1"/>
                </a:solidFill>
              </a:rPr>
              <a:t> and 50% of the </a:t>
            </a: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DL</a:t>
            </a:r>
            <a:r>
              <a:rPr lang="en-GB" dirty="0">
                <a:solidFill>
                  <a:schemeClr val="bg1"/>
                </a:solidFill>
              </a:rPr>
              <a:t> genes have no Paralogues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No Paralogue = Sequence Similarity Not Present or &lt; 30% </a:t>
            </a:r>
          </a:p>
        </p:txBody>
      </p:sp>
      <p:pic>
        <p:nvPicPr>
          <p:cNvPr id="3" name="Picture 2" descr="A graph of a bar chart&#10;&#10;AI-generated content may be incorrect.">
            <a:extLst>
              <a:ext uri="{FF2B5EF4-FFF2-40B4-BE49-F238E27FC236}">
                <a16:creationId xmlns:a16="http://schemas.microsoft.com/office/drawing/2014/main" id="{7124F8DA-E382-3AA9-AA2E-0BDB8B864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170" y="1532405"/>
            <a:ext cx="6103857" cy="4137688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B0C26BC7-53D9-9A40-3A0B-57AC531DAC5A}"/>
              </a:ext>
            </a:extLst>
          </p:cNvPr>
          <p:cNvSpPr/>
          <p:nvPr/>
        </p:nvSpPr>
        <p:spPr>
          <a:xfrm>
            <a:off x="6562626" y="5303804"/>
            <a:ext cx="381786" cy="278091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accent2"/>
                </a:solidFill>
              </a:ln>
              <a:noFill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B9A6936-4410-9EED-4037-3579403FA222}"/>
              </a:ext>
            </a:extLst>
          </p:cNvPr>
          <p:cNvSpPr/>
          <p:nvPr/>
        </p:nvSpPr>
        <p:spPr>
          <a:xfrm>
            <a:off x="7429953" y="5294772"/>
            <a:ext cx="296945" cy="278091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421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CBFD-6C57-01D0-A146-3D9A6CA13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42630-9C7F-D09B-28BE-D1C5F0E32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3FD5-97A4-4BBE-860A-91D206193873}" type="datetime1">
              <a:rPr lang="en-GB" smtClean="0"/>
              <a:t>30/07/2025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0450A-4E26-5D07-3630-EB18E3777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7</a:t>
            </a:fld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6AC47C-0111-BA10-DA77-B7424F4FFD6D}"/>
              </a:ext>
            </a:extLst>
          </p:cNvPr>
          <p:cNvSpPr txBox="1"/>
          <p:nvPr/>
        </p:nvSpPr>
        <p:spPr>
          <a:xfrm>
            <a:off x="230955" y="209994"/>
            <a:ext cx="10297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Discrepancies in FUSIL Category Between the Query Gene &amp; Its Paralogues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B4015B-1264-ABE0-C0BF-6F42C7B50ED3}"/>
              </a:ext>
            </a:extLst>
          </p:cNvPr>
          <p:cNvSpPr txBox="1"/>
          <p:nvPr/>
        </p:nvSpPr>
        <p:spPr>
          <a:xfrm>
            <a:off x="230956" y="1739245"/>
            <a:ext cx="54298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Assigned a FUSIL Category to the paralogues of each FUSIL Gene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Observed how the FUSIL bin changes between the query genes their paralogues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Trend where increasing gene essentiality corresponds with paralogues being retained within the same FUSIL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Except for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VP</a:t>
            </a:r>
            <a:r>
              <a:rPr lang="en-US" dirty="0">
                <a:solidFill>
                  <a:schemeClr val="bg1"/>
                </a:solidFill>
              </a:rPr>
              <a:t> genes, but this could be attributed to the number of genes in that category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" name="Picture 5" descr="A colorful lines on a white background&#10;&#10;AI-generated content may be incorrect.">
            <a:extLst>
              <a:ext uri="{FF2B5EF4-FFF2-40B4-BE49-F238E27FC236}">
                <a16:creationId xmlns:a16="http://schemas.microsoft.com/office/drawing/2014/main" id="{CD1FC39A-D91B-1FFC-6C3C-F87E951F9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505" y="1131220"/>
            <a:ext cx="6298666" cy="3836705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A27240-5941-C28E-74C7-74F82B9C79E7}"/>
              </a:ext>
            </a:extLst>
          </p:cNvPr>
          <p:cNvCxnSpPr/>
          <p:nvPr/>
        </p:nvCxnSpPr>
        <p:spPr>
          <a:xfrm>
            <a:off x="6716598" y="1597843"/>
            <a:ext cx="2592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6EF177B-8BC6-4ECA-B3FE-26CF9FC77B93}"/>
              </a:ext>
            </a:extLst>
          </p:cNvPr>
          <p:cNvCxnSpPr>
            <a:cxnSpLocks/>
          </p:cNvCxnSpPr>
          <p:nvPr/>
        </p:nvCxnSpPr>
        <p:spPr>
          <a:xfrm>
            <a:off x="6667106" y="2226296"/>
            <a:ext cx="2592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964EBD-299E-026C-300C-0413A81C4C8F}"/>
              </a:ext>
            </a:extLst>
          </p:cNvPr>
          <p:cNvCxnSpPr/>
          <p:nvPr/>
        </p:nvCxnSpPr>
        <p:spPr>
          <a:xfrm>
            <a:off x="6692245" y="4455737"/>
            <a:ext cx="2592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40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58F92-CFDC-2CF6-A502-83F0854B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E7EAC-9233-F968-F2D3-94C2E3C47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3FD5-97A4-4BBE-860A-91D206193873}" type="datetime1">
              <a:rPr lang="en-GB" smtClean="0"/>
              <a:t>30/07/2025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D26D3-3D49-DF0D-AC41-3B29C3F8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8</a:t>
            </a:fld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3EA3AD-7773-01CA-3B78-E7BFDC8D4914}"/>
              </a:ext>
            </a:extLst>
          </p:cNvPr>
          <p:cNvSpPr txBox="1"/>
          <p:nvPr/>
        </p:nvSpPr>
        <p:spPr>
          <a:xfrm>
            <a:off x="230955" y="209994"/>
            <a:ext cx="10297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Essential Genes Tend to Originate from More Ancient Ancestor Gene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267D5-8AAF-3D7C-DD00-DCFE2654EA00}"/>
              </a:ext>
            </a:extLst>
          </p:cNvPr>
          <p:cNvSpPr txBox="1"/>
          <p:nvPr/>
        </p:nvSpPr>
        <p:spPr>
          <a:xfrm>
            <a:off x="230955" y="1560136"/>
            <a:ext cx="50669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More essential genes (CL and DL) tend to have paralogues with older MCRA subtypes (e.g., </a:t>
            </a:r>
            <a:r>
              <a:rPr lang="en-GB" dirty="0" err="1">
                <a:solidFill>
                  <a:schemeClr val="bg1"/>
                </a:solidFill>
              </a:rPr>
              <a:t>Opisthokonta</a:t>
            </a:r>
            <a:r>
              <a:rPr lang="en-GB" dirty="0">
                <a:solidFill>
                  <a:schemeClr val="bg1"/>
                </a:solidFill>
              </a:rPr>
              <a:t> and Bilateria)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 CL (most essential), nearly 80% of paralogues trace back to Opisthokonta.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Less essential genes ( SV, VP and VnP) have more recent MCRAs (e.g., Chordata, Vertebrata, Gnathostomata)</a:t>
            </a:r>
          </a:p>
        </p:txBody>
      </p:sp>
      <p:pic>
        <p:nvPicPr>
          <p:cNvPr id="8" name="Picture 7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61FF3591-5678-DE7A-C8BC-4D4054082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975" y="1264764"/>
            <a:ext cx="6560870" cy="394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08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D24FC-60C6-21FC-ACDE-E6963E94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F32EC-B0D5-8AC7-5E18-C9BD2442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3FD5-97A4-4BBE-860A-91D206193873}" type="datetime1">
              <a:rPr lang="en-GB" smtClean="0"/>
              <a:t>30/07/2025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611AD-7288-C3BD-4EE3-BDE17B14D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9</a:t>
            </a:fld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050AC1-A08F-4C50-176E-56503B2C188C}"/>
              </a:ext>
            </a:extLst>
          </p:cNvPr>
          <p:cNvSpPr txBox="1"/>
          <p:nvPr/>
        </p:nvSpPr>
        <p:spPr>
          <a:xfrm>
            <a:off x="230955" y="209994"/>
            <a:ext cx="5745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Enrichment Analysis of FUSIL Paralogues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D58833-10CC-6F2D-7346-1377BC4FD40D}"/>
              </a:ext>
            </a:extLst>
          </p:cNvPr>
          <p:cNvSpPr txBox="1"/>
          <p:nvPr/>
        </p:nvSpPr>
        <p:spPr>
          <a:xfrm>
            <a:off x="188534" y="1314658"/>
            <a:ext cx="6601908" cy="46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Performed GO enrichment analysis of paralogues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Grouped by the FUSIL category of the query gene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Paralogues often share similar biological functions with their query gene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is expected, as paralogues are defined by both sequence and functional similarity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significant functional overlap was observed between the most essential genes 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CL</a:t>
            </a:r>
            <a:r>
              <a:rPr lang="en-US" dirty="0">
                <a:solidFill>
                  <a:schemeClr val="bg1"/>
                </a:solidFill>
              </a:rPr>
              <a:t>) and the least essential ones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VP, VnP</a:t>
            </a:r>
            <a:r>
              <a:rPr lang="en-US" dirty="0">
                <a:solidFill>
                  <a:schemeClr val="bg1"/>
                </a:solidFill>
              </a:rPr>
              <a:t>). This highlights a clear division in the biological roles of essential and non-essential genes.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A6AEA6-85E9-4242-DCB3-007EB03D1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863" y="607529"/>
            <a:ext cx="5128182" cy="471657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9480301-244A-9C66-8A29-B2477CD5B2E8}"/>
              </a:ext>
            </a:extLst>
          </p:cNvPr>
          <p:cNvSpPr/>
          <p:nvPr/>
        </p:nvSpPr>
        <p:spPr>
          <a:xfrm>
            <a:off x="8496638" y="4881682"/>
            <a:ext cx="400639" cy="410066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FEE064-816E-8239-792C-D0286C7B2516}"/>
              </a:ext>
            </a:extLst>
          </p:cNvPr>
          <p:cNvSpPr/>
          <p:nvPr/>
        </p:nvSpPr>
        <p:spPr>
          <a:xfrm>
            <a:off x="9982200" y="4881682"/>
            <a:ext cx="1442301" cy="442418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78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F058A-645F-DBC1-38C5-2C409E151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28658-3158-0963-C73D-DB3D1F919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Drug Targets &amp; Gene Essentiality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1EE77-CC6A-F714-9AC2-D17CD0BF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163" y="6356350"/>
            <a:ext cx="116603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29AE07-BB36-4041-B869-5219E0C36ED9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2EE33E-312D-D554-5FD5-E7F5F7FD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19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9DD95-EAC1-ECA5-D0A7-00338BD3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4DE89-0A51-91DD-B0F8-2BA90373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Drug Databases Overview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0C010E-274E-8C52-B326-B770F82F1C39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Drug databases are similar but not the same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Difference in number of gene/targets and drugs curated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BA2258-74DB-6F2C-DB6C-26875D74A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935454"/>
            <a:ext cx="6922008" cy="508767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D3171-CD81-96FC-634D-3E71BC30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4904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29AE07-BB36-4041-B869-5219E0C36ED9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98DA63-DC9A-6115-931F-74B0AC95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5688" y="6356350"/>
            <a:ext cx="21214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577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940F-D00D-0DB2-C9E6-2EC53FF9C3EC}"/>
              </a:ext>
            </a:extLst>
          </p:cNvPr>
          <p:cNvSpPr txBox="1"/>
          <p:nvPr/>
        </p:nvSpPr>
        <p:spPr>
          <a:xfrm>
            <a:off x="489098" y="1106034"/>
            <a:ext cx="501907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>
                <a:latin typeface="+mj-lt"/>
                <a:ea typeface="+mj-ea"/>
                <a:cs typeface="+mj-cs"/>
              </a:rPr>
              <a:t>Cross-Dataset Comparison of Target Types: FUSIL Genes and Protein-Coding Genes in OpenTargets and DrugBank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Picture 7" descr="A graph of a bar chart&#10;&#10;AI-generated content may be incorrect.">
            <a:extLst>
              <a:ext uri="{FF2B5EF4-FFF2-40B4-BE49-F238E27FC236}">
                <a16:creationId xmlns:a16="http://schemas.microsoft.com/office/drawing/2014/main" id="{D4B601EB-515F-E2EF-A8A4-27F0841E1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975" y="625683"/>
            <a:ext cx="4253023" cy="27432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graph of a bar chart&#10;&#10;AI-generated content may be incorrect.">
            <a:extLst>
              <a:ext uri="{FF2B5EF4-FFF2-40B4-BE49-F238E27FC236}">
                <a16:creationId xmlns:a16="http://schemas.microsoft.com/office/drawing/2014/main" id="{E97A3DEA-F056-9D30-D8DC-BD06F80F8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872" y="3550309"/>
            <a:ext cx="4689231" cy="27432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E6A54-1E1C-6206-C31A-BCC2DAAD3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097" y="6356350"/>
            <a:ext cx="13570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283FD5-97A4-4BBE-860A-91D206193873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04B61-1A3C-67A6-4DBB-B29E6D03A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50" y="6356350"/>
            <a:ext cx="120325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A01447-5C01-A9E6-0D57-59A7C106DC98}"/>
              </a:ext>
            </a:extLst>
          </p:cNvPr>
          <p:cNvSpPr txBox="1"/>
          <p:nvPr/>
        </p:nvSpPr>
        <p:spPr>
          <a:xfrm>
            <a:off x="589175" y="5038627"/>
            <a:ext cx="3803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Protein-coding genes dominate in both datasets</a:t>
            </a:r>
          </a:p>
        </p:txBody>
      </p:sp>
    </p:spTree>
    <p:extLst>
      <p:ext uri="{BB962C8B-B14F-4D97-AF65-F5344CB8AC3E}">
        <p14:creationId xmlns:p14="http://schemas.microsoft.com/office/powerpoint/2010/main" val="542033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96BC7-B3C0-713B-6BBC-33FEF149FEC4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>
                <a:latin typeface="+mj-lt"/>
                <a:ea typeface="+mj-ea"/>
                <a:cs typeface="+mj-cs"/>
              </a:rPr>
              <a:t>Missing potential of non-coding DNA in drug development 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9B6F5-3BCF-5AF2-4901-0669B3A7A0CF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Increasing evidence towards developing compound that target non-coding DNA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Compounds that target ncRNAs have the potential to control expression of disease-related genes </a:t>
            </a:r>
            <a:r>
              <a:rPr lang="en-US" sz="1200" i="1" dirty="0"/>
              <a:t>( Matsui et al. 2017 )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i="1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i="1" dirty="0"/>
              <a:t>Example: </a:t>
            </a:r>
            <a:r>
              <a:rPr lang="en-US" sz="1200" dirty="0"/>
              <a:t>several </a:t>
            </a:r>
            <a:r>
              <a:rPr lang="en-US" sz="1200" dirty="0" err="1"/>
              <a:t>lncRNAs</a:t>
            </a:r>
            <a:r>
              <a:rPr lang="en-US" sz="1200" dirty="0"/>
              <a:t>, such as HOTAIR, SPRY4-IT1, BANCR, and PVT1, is altered in human NSCLC and gastric cancer. ( </a:t>
            </a:r>
            <a:r>
              <a:rPr lang="en-US" sz="1200" i="1" dirty="0"/>
              <a:t>Chen et al., 2017 </a:t>
            </a:r>
            <a:r>
              <a:rPr lang="en-US" sz="1200" dirty="0"/>
              <a:t>)</a:t>
            </a:r>
            <a:endParaRPr lang="en-US" sz="1200" i="1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i="1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Novel mechanism if action require novel technologies and therefore will involve equally novel challenges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FF0B0E-C283-88D2-EC8A-9B3F320F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52D860C-2289-47D1-A118-A3B5CF04EE39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7/30/2025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8BB36E-D58E-A209-B6EE-B5372ACA18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78" r="2373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C0700-1D68-0DEE-D7C8-9E61EA5C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A5350B-A8ED-4C36-B26C-7513F01B2B39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13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25121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52D8C-C535-38FB-FB76-77F694B11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FD94F-861F-4D5A-F7CA-EDE14A13E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Drug Targeting by Disease Category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C60D38-2C57-0413-B922-9E4C3AF4D2C1}"/>
              </a:ext>
            </a:extLst>
          </p:cNvPr>
          <p:cNvSpPr txBox="1"/>
          <p:nvPr/>
        </p:nvSpPr>
        <p:spPr>
          <a:xfrm>
            <a:off x="841248" y="2252870"/>
            <a:ext cx="3412219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55CD8-20A6-51E1-38D2-334BC804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29AE07-BB36-4041-B869-5219E0C36ED9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22E5A-6DF2-D514-1C20-B426A85A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004F44-C0FC-8FAC-B8EF-FB083CB44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966" y="1027520"/>
            <a:ext cx="7346653" cy="45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30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A1B08-499D-DDF0-C38B-1C05FED9FA35}"/>
              </a:ext>
            </a:extLst>
          </p:cNvPr>
          <p:cNvSpPr txBox="1"/>
          <p:nvPr/>
        </p:nvSpPr>
        <p:spPr>
          <a:xfrm>
            <a:off x="804672" y="802955"/>
            <a:ext cx="4766330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Establishing a higher-level (Ancestor) term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6E5F1-39CD-A76C-792B-32B167AF8BF7}"/>
              </a:ext>
            </a:extLst>
          </p:cNvPr>
          <p:cNvSpPr txBox="1"/>
          <p:nvPr/>
        </p:nvSpPr>
        <p:spPr>
          <a:xfrm>
            <a:off x="804672" y="2421683"/>
            <a:ext cx="4765949" cy="335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Aim to group diseases in an ancestor term to facilitate analysis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Mapped specific disease terms to their corresponding higher-level biological categories using HPO/MP script.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F932D2-C12C-8E8B-8F95-E1034D2C4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1881073"/>
            <a:ext cx="4142232" cy="401939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A35981-63D0-6C2B-3AF1-B15F0A2623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2D860C-2289-47D1-A118-A3B5CF04EE39}" type="datetime1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A7193-10EE-ACAC-B2B7-3E760B5A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575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9F20-D8CC-9ABE-5808-5DA5B108F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D1E66F-AFAF-F3A4-4E94-86B91ADB3C81}"/>
              </a:ext>
            </a:extLst>
          </p:cNvPr>
          <p:cNvSpPr txBox="1"/>
          <p:nvPr/>
        </p:nvSpPr>
        <p:spPr>
          <a:xfrm>
            <a:off x="393691" y="110744"/>
            <a:ext cx="7533281" cy="648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EFO Mapping Challenge: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7528A6-81B8-82A8-DFC8-CB12596A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4904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2D860C-2289-47D1-A118-A3B5CF04EE39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2A8EC-3676-161D-3C3D-9036A239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5688" y="6356350"/>
            <a:ext cx="21214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 descr="A screenshot of a test&#10;&#10;AI-generated content may be incorrect.">
            <a:extLst>
              <a:ext uri="{FF2B5EF4-FFF2-40B4-BE49-F238E27FC236}">
                <a16:creationId xmlns:a16="http://schemas.microsoft.com/office/drawing/2014/main" id="{D84B130D-0065-E046-B27C-70C9768CB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197" y="1414021"/>
            <a:ext cx="6246680" cy="38467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1373EF-648D-FA4E-BF25-7C8111C86EFC}"/>
              </a:ext>
            </a:extLst>
          </p:cNvPr>
          <p:cNvCxnSpPr>
            <a:cxnSpLocks/>
          </p:cNvCxnSpPr>
          <p:nvPr/>
        </p:nvCxnSpPr>
        <p:spPr>
          <a:xfrm flipH="1">
            <a:off x="10021893" y="3638318"/>
            <a:ext cx="569122" cy="0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941958-B3BC-C69C-2850-D01B311BB606}"/>
              </a:ext>
            </a:extLst>
          </p:cNvPr>
          <p:cNvCxnSpPr>
            <a:cxnSpLocks/>
          </p:cNvCxnSpPr>
          <p:nvPr/>
        </p:nvCxnSpPr>
        <p:spPr>
          <a:xfrm flipH="1">
            <a:off x="9816418" y="4407146"/>
            <a:ext cx="525987" cy="0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2" name="TextBox 8">
            <a:extLst>
              <a:ext uri="{FF2B5EF4-FFF2-40B4-BE49-F238E27FC236}">
                <a16:creationId xmlns:a16="http://schemas.microsoft.com/office/drawing/2014/main" id="{79C764B8-80A5-8FC8-4A23-CF80805642BF}"/>
              </a:ext>
            </a:extLst>
          </p:cNvPr>
          <p:cNvGraphicFramePr/>
          <p:nvPr/>
        </p:nvGraphicFramePr>
        <p:xfrm>
          <a:off x="186367" y="1825371"/>
          <a:ext cx="5243471" cy="3207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8547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5E120-1728-C469-9C79-FDC42336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39DC6-D640-242B-27CD-EE48D3BE763F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Strategy to Resolve Ambiguous Mapping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54AABB-8496-8CEF-895B-229442B3AC6E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Defined a priority list of high-level biological categories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Ranked and assigned each term to its most relevant primary ancestor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However, t</a:t>
            </a:r>
            <a:r>
              <a:rPr lang="en-US"/>
              <a:t>he selection of "primary" disease categories was based on a custom-defined priority list</a:t>
            </a:r>
            <a:endParaRPr lang="en-US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C12D1A-1575-3C21-D24E-B78483563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764860"/>
            <a:ext cx="5628018" cy="309540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B56B4-6AD0-3FA8-0880-60761E44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5064" y="6492240"/>
            <a:ext cx="29363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2D860C-2289-47D1-A118-A3B5CF04EE39}" type="datetime1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6DD61-52A5-B56D-B0E7-4C8A6A77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878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D9F04-D96D-E6B3-EFB7-F293B1AFF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B8BB19D-A685-B0F0-51AB-38D6964AF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68949F3-A579-4D1B-B54C-9A2CAFD25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CC443E-C219-1A1B-A237-EAC80BA1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462" y="978619"/>
            <a:ext cx="3930977" cy="11064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Drug Targeting by Disease Category ( Function Applied)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939CBE-D2FB-6E11-E96A-25B0686CD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5A4F14-D198-C1E7-8ADE-1188CAB58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EEA440-F0E7-FCCF-7F27-2B99296A58E8}"/>
              </a:ext>
            </a:extLst>
          </p:cNvPr>
          <p:cNvSpPr txBox="1"/>
          <p:nvPr/>
        </p:nvSpPr>
        <p:spPr>
          <a:xfrm>
            <a:off x="841248" y="2252870"/>
            <a:ext cx="3412219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Heavy Targeting of Cancer and tumor related disorders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Reflects major R&amp;D investment in oncology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Possibly due to the high disease burden and commercial potential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5E28B3-2335-06B7-6BD7-168AEA1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29AE07-BB36-4041-B869-5219E0C36ED9}" type="datetime1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64061B-D7A9-53A8-31F2-9D4B66CB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7FF374-5AE8-7B5B-CE82-9A71C8066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579" y="801279"/>
            <a:ext cx="7048600" cy="507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33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75267-33DD-2223-9D17-F7E6ABBB8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5F97B-67D9-78C6-A697-6B360027B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dirty="0"/>
              <a:t>Paralogue Patterns Differ in Approved vs. Withdrawn Drugs?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D5783D-85F7-1568-81EE-197072C35A50}"/>
              </a:ext>
            </a:extLst>
          </p:cNvPr>
          <p:cNvSpPr txBox="1"/>
          <p:nvPr/>
        </p:nvSpPr>
        <p:spPr>
          <a:xfrm>
            <a:off x="1246824" y="2623381"/>
            <a:ext cx="4772974" cy="35535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Approved drug targets ,approximately 69.4% of genes have paralogues ,while 30.1% lack them</a:t>
            </a:r>
          </a:p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Similar pattern for the withdrawn drugs, with a slightly higher percentages of genes with paralogues</a:t>
            </a:r>
          </a:p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Paralogues could act like double-edged sword</a:t>
            </a:r>
          </a:p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May increase safety through redundancy, or increase risk via off-target effects</a:t>
            </a:r>
          </a:p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Depends on the context ( Target Essentiality, Disease..)</a:t>
            </a:r>
          </a:p>
        </p:txBody>
      </p:sp>
      <p:pic>
        <p:nvPicPr>
          <p:cNvPr id="5" name="Picture 4" descr="A graph of a number of individuals&#10;&#10;AI-generated content may be incorrect.">
            <a:extLst>
              <a:ext uri="{FF2B5EF4-FFF2-40B4-BE49-F238E27FC236}">
                <a16:creationId xmlns:a16="http://schemas.microsoft.com/office/drawing/2014/main" id="{EF807CA6-3BB1-6DB1-5099-99BA120B2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428" y="643468"/>
            <a:ext cx="4066732" cy="2785532"/>
          </a:xfrm>
          <a:prstGeom prst="rect">
            <a:avLst/>
          </a:prstGeom>
        </p:spPr>
      </p:pic>
      <p:pic>
        <p:nvPicPr>
          <p:cNvPr id="3" name="Picture 2" descr="A green and blue bar graph&#10;&#10;AI-generated content may be incorrect.">
            <a:extLst>
              <a:ext uri="{FF2B5EF4-FFF2-40B4-BE49-F238E27FC236}">
                <a16:creationId xmlns:a16="http://schemas.microsoft.com/office/drawing/2014/main" id="{48D02386-97FF-4873-8ABA-00ED5B5F6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309" y="3590925"/>
            <a:ext cx="3956851" cy="283414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99B8CB-4470-CCC2-CC6D-1FD057C93E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29AE07-BB36-4041-B869-5219E0C36ED9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FEEA95-6DD8-E841-3722-13A95903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540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884F2-84ED-6757-71C6-F3B2B17F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EF05B0-E307-8FF4-4DA7-23AC872CA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39" y="639520"/>
            <a:ext cx="4152506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Withdrawn Drug Targets Within the FUSIL 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B4E6C3-FD01-225B-7935-06C962E1194D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Most withdrawn drugs with known gene targets act on essential genes (</a:t>
            </a:r>
            <a:r>
              <a:rPr lang="en-US" sz="1700" dirty="0">
                <a:solidFill>
                  <a:srgbClr val="00B0F0"/>
                </a:solidFill>
              </a:rPr>
              <a:t>CL </a:t>
            </a:r>
            <a:r>
              <a:rPr lang="en-US" sz="1700" dirty="0"/>
              <a:t>category)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Suggests that targeting essential genes may increase the risk of adverse effects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Highlights a potential link between gene essentiality and drug safety failure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037FE-52AF-7C08-914E-636103948B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29AE07-BB36-4041-B869-5219E0C36ED9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C7E3C-6019-8F47-A0AD-0A8AF3CA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D6227-83BA-6BF6-4E6B-8F744C3BD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854" y="1658912"/>
            <a:ext cx="6622525" cy="437588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A47895BB-2038-469A-801F-8A1258EC7C8A}"/>
              </a:ext>
            </a:extLst>
          </p:cNvPr>
          <p:cNvSpPr/>
          <p:nvPr/>
        </p:nvSpPr>
        <p:spPr>
          <a:xfrm>
            <a:off x="5548173" y="5563490"/>
            <a:ext cx="499402" cy="471304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233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BBAE9-4C98-9F14-7FB1-53F08E06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DC2A18-1D3F-C1DD-C652-36D20CA9E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860C-2289-47D1-A118-A3B5CF04EE39}" type="datetime1">
              <a:rPr lang="en-GB" smtClean="0"/>
              <a:t>30/07/2025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6CD47-FED1-CA3A-14A9-9405452C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21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57076-005D-27AD-9535-E9D5184B2CFB}"/>
              </a:ext>
            </a:extLst>
          </p:cNvPr>
          <p:cNvSpPr txBox="1"/>
          <p:nvPr/>
        </p:nvSpPr>
        <p:spPr>
          <a:xfrm>
            <a:off x="391212" y="230957"/>
            <a:ext cx="10873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Difference in Paralogy Between Approved and Withdrawn Drug Targets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DC97E-1C39-4DB8-DF7F-3B4EEC4DE73A}"/>
              </a:ext>
            </a:extLst>
          </p:cNvPr>
          <p:cNvSpPr txBox="1"/>
          <p:nvPr/>
        </p:nvSpPr>
        <p:spPr>
          <a:xfrm>
            <a:off x="313441" y="1626124"/>
            <a:ext cx="50786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Most gene targets have paralogues , with minimal differences between the 2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Observe a higher percentage of gene targets that have paralogues across the FUSIL categories, except 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452BCD-C931-EEB4-592D-754780196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725" y="1471698"/>
            <a:ext cx="6509369" cy="403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30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88B8-A084-0A53-579A-43099631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Paralogy alone is </a:t>
            </a:r>
            <a:r>
              <a:rPr lang="en-US" sz="2800" b="1" dirty="0">
                <a:solidFill>
                  <a:schemeClr val="bg1"/>
                </a:solidFill>
              </a:rPr>
              <a:t>not a sufficient predictor</a:t>
            </a:r>
            <a:r>
              <a:rPr lang="en-US" sz="2800" dirty="0">
                <a:solidFill>
                  <a:schemeClr val="bg1"/>
                </a:solidFill>
              </a:rPr>
              <a:t> of drug safety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CDBE4-1452-3DB3-5EFE-5EE1F0EF4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Context Matters: Not all paralogues are equally expressed, active, or accessible in every tissue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Some Paralogues may compensate, others may interfere or interact, which leads to a complex and varying effects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Its impact is multifactorial and could depend on expression patterns, binding specificity, and tissue context.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114B9-CC48-8DD7-9E89-F70086B3E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8066B-5604-4722-A335-20D4516053E9}" type="datetime1">
              <a:rPr lang="en-GB" smtClean="0"/>
              <a:t>30/07/2025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9B7ED-A113-57D5-FDF5-24C1FDC0F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962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081FA6-2C3B-DF41-4893-976ED39E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Indication Trends Across FUSIL Bins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0688E-7EAD-95AF-F48D-2A4AF4A6C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 dirty="0"/>
              <a:t>Essential genes (CL) have fewer indications per gene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dirty="0"/>
              <a:t>These genes could be considered high risk, therefore, more chance of side effects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dirty="0"/>
              <a:t>This toxicity could prevent their boarder application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 dirty="0"/>
              <a:t>SV are targeted across more indications.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dirty="0"/>
              <a:t>Less essential = more flexible: Drugs can be repurposed across multiple diseases with lower risk of systemic disruption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dirty="0"/>
              <a:t>Commercial Incentive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6AD9A-925F-77A9-4339-333570EA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283FD5-97A4-4BBE-860A-91D206193873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35888-0656-22EE-6E84-6CF8E4F05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72602E-B237-984D-0951-99558F4B2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241" y="2243055"/>
            <a:ext cx="5666545" cy="35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633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24A00-03F5-A012-468B-04B655C8F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88-83B9-4394-8CE2-7796028C287D}" type="datetime1">
              <a:rPr lang="en-GB" smtClean="0"/>
              <a:t>30/07/2025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FFF12-1C6D-7A24-EC60-17E8B9E5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24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D53DD8-33C4-E484-643A-2A153349B8E8}"/>
              </a:ext>
            </a:extLst>
          </p:cNvPr>
          <p:cNvSpPr txBox="1"/>
          <p:nvPr/>
        </p:nvSpPr>
        <p:spPr>
          <a:xfrm>
            <a:off x="391212" y="230957"/>
            <a:ext cx="9535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Drug Targets Vary by Disease/Indication and Essential Gene Category</a:t>
            </a: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EB5E97-F84A-FF00-0301-765401914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25" y="777711"/>
            <a:ext cx="9772479" cy="563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67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9841B-4628-D2CB-827C-FCA2CE1FC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860C-2289-47D1-A118-A3B5CF04EE39}" type="datetime1">
              <a:rPr lang="en-GB" smtClean="0"/>
              <a:t>30/07/2025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6D56F-E7AC-529C-EC19-45F0EF97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25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56CAF-3A5D-142F-A6E3-66D244FBB5ED}"/>
              </a:ext>
            </a:extLst>
          </p:cNvPr>
          <p:cNvSpPr txBox="1"/>
          <p:nvPr/>
        </p:nvSpPr>
        <p:spPr>
          <a:xfrm>
            <a:off x="296944" y="95448"/>
            <a:ext cx="10180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Cancer Drug Targets Cluster in more Essential Genes! Maybe?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621BD-F8BA-5456-F687-0C90E739C2A8}"/>
              </a:ext>
            </a:extLst>
          </p:cNvPr>
          <p:cNvSpPr txBox="1"/>
          <p:nvPr/>
        </p:nvSpPr>
        <p:spPr>
          <a:xfrm>
            <a:off x="348792" y="4581427"/>
            <a:ext cx="655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Need to investigate why Cancer Drugs have a high proportion of VnP Targets.</a:t>
            </a:r>
            <a:endParaRPr lang="en-GB" dirty="0">
              <a:solidFill>
                <a:schemeClr val="bg1"/>
              </a:solidFill>
            </a:endParaRPr>
          </a:p>
        </p:txBody>
      </p:sp>
      <p:graphicFrame>
        <p:nvGraphicFramePr>
          <p:cNvPr id="13" name="TextBox 9">
            <a:extLst>
              <a:ext uri="{FF2B5EF4-FFF2-40B4-BE49-F238E27FC236}">
                <a16:creationId xmlns:a16="http://schemas.microsoft.com/office/drawing/2014/main" id="{CF4B77B2-BE5B-DCE0-AA5E-D30C042967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8785027"/>
              </p:ext>
            </p:extLst>
          </p:nvPr>
        </p:nvGraphicFramePr>
        <p:xfrm>
          <a:off x="258451" y="975675"/>
          <a:ext cx="6645898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805201E-9000-F02A-1D88-A0B331AB16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9570" y="812378"/>
            <a:ext cx="5090717" cy="346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1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D8AE9-6321-D1F4-23D5-85DA851C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Psychiatric Disorder Drug Targets Cluster in Less Essential Genes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F85EE-4859-C2A0-6889-7009600CE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/>
              <a:t>SV (Subviable) genes have the highest number of psychiatric drug targets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/>
              <a:t>No psychiatric drugs target CL (Cellular Lethal) genes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/>
              <a:t>Psychiatric drugs are often used long-term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BFA75-144C-9A9F-5DC1-C9F880AA99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5064" y="6492240"/>
            <a:ext cx="29363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283FD5-97A4-4BBE-860A-91D206193873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FA659-B949-884A-3730-2B823CEA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36B0D3C-7F87-AE4F-BD00-314709E03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1499" y="1465019"/>
            <a:ext cx="6184973" cy="366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95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E168F5-4072-98FD-36A2-CE5B8DB4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Clozapine and Other CNS Drugs Show High Side Effect Counts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6598-F757-49EB-B3FC-7B2717E61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300" dirty="0"/>
              <a:t>Clozapine had a significant higher number of Side effects reported than any other Drug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300" dirty="0"/>
              <a:t>Other CNS/psychiatric drugs (Paroxetine, Varenicline, Sertraline, Fluoxetine, Bupropion) are also in the top 10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300" dirty="0"/>
              <a:t>It’s a highly effective Drug in treating TX resistant psychiatric disorders ( Schizophrenia)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300" dirty="0"/>
              <a:t>Black Box Warning for Thrombocytopenia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300" dirty="0"/>
              <a:t>Despite it’s BBW and limited use, still presented with the most Side effects report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300" dirty="0"/>
              <a:t>Could be explained by the extreme monitoring , polypharmacy, chronic use.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39BF02C-C07E-C37A-33D3-5262A2A0A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67970" y="2462821"/>
            <a:ext cx="5702248" cy="315049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F2CB1-6945-6017-3817-D0C7ADF4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283FD5-97A4-4BBE-860A-91D206193873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9DA24-AA99-0116-6D86-1B6D7721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468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4022A5-6CFB-4B99-16DE-108CF96E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FF4E29B-DB4D-DFCB-0B56-D51E242E4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E6FB1-2C91-D182-E14B-2F7EFB1A9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Side Effect Burden Varies by Disease Area</a:t>
            </a: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6B72BB-BAC3-89A7-4D2A-F7A7119C2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0EA377-274B-0A62-D0E7-51FF834BC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AA26AC-1D26-6CF3-E181-3D4246CF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8ABAA-E011-F838-CC0C-DCE9A52B7A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283FD5-97A4-4BBE-860A-91D206193873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5583C-4C3D-2D1F-A827-F4E31023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F96C5D4-BFA8-7CA4-B070-087CA193F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740" y="2072308"/>
            <a:ext cx="6866519" cy="422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717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A6646-9FD7-C758-E2E7-BC7C125F273B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Drugs Targeting Essential Genes Show Greater Side Effect Variability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C1490-A5C6-0B15-C4C1-9610FD34DCDC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The median and interquartile range (IQR) are both highest for CL &amp; DL genes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Could suggests that drugs targeting highly essential genes tend to result in more side effects on average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Feeds back to the hypothesis that modulating the function of essential genes will produce broad, system-wide physiological effects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Could support using gene essentiality (FUSIL) as a predictor of drug safety risk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75D721-60E1-CCA1-AFF3-B10A7270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5064" y="6492240"/>
            <a:ext cx="29363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2D860C-2289-47D1-A118-A3B5CF04EE39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7/30/2025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7DE4A-EA41-371F-ABBA-9E61D7AD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B548A4-283D-6CDC-A604-E57DC9EE3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91" y="1155152"/>
            <a:ext cx="6002376" cy="445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94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A9DE-E26C-2052-5EAE-32024E4B8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47C442-8301-FCD6-D9AD-DEC320B79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860C-2289-47D1-A118-A3B5CF04EE39}" type="datetime1">
              <a:rPr lang="en-GB" smtClean="0"/>
              <a:t>30/07/2025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98C9B-4A98-1184-063A-0A6514BAA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30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702E1-48FD-6CC0-099A-FBF48260837B}"/>
              </a:ext>
            </a:extLst>
          </p:cNvPr>
          <p:cNvSpPr txBox="1"/>
          <p:nvPr/>
        </p:nvSpPr>
        <p:spPr>
          <a:xfrm>
            <a:off x="308225" y="462337"/>
            <a:ext cx="8486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Paralogues VS Side Effects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90F1B-08F3-A07A-2184-195FEFBC39EB}"/>
              </a:ext>
            </a:extLst>
          </p:cNvPr>
          <p:cNvSpPr txBox="1"/>
          <p:nvPr/>
        </p:nvSpPr>
        <p:spPr>
          <a:xfrm>
            <a:off x="390418" y="1900719"/>
            <a:ext cx="36986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median number of side effects appears slightly lower for drugs targets genes </a:t>
            </a:r>
            <a:r>
              <a:rPr lang="en-US" dirty="0">
                <a:solidFill>
                  <a:schemeClr val="accent2"/>
                </a:solidFill>
              </a:rPr>
              <a:t>with paralogues </a:t>
            </a:r>
            <a:r>
              <a:rPr lang="en-US" dirty="0">
                <a:solidFill>
                  <a:schemeClr val="bg1"/>
                </a:solidFill>
              </a:rPr>
              <a:t>compared to those </a:t>
            </a:r>
            <a:r>
              <a:rPr lang="en-US" dirty="0">
                <a:solidFill>
                  <a:schemeClr val="accent2"/>
                </a:solidFill>
              </a:rPr>
              <a:t>without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However, both groups have similar overall spread and variability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There's no strong visual indication that having a paralogue consistently affects side effects patterns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272CEB-FFF3-C3DB-15B4-A4EFF0E87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352" y="1656975"/>
            <a:ext cx="750570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44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54813-5AC5-FD9E-29FE-0F061502EA5A}"/>
              </a:ext>
            </a:extLst>
          </p:cNvPr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>
                <a:latin typeface="+mj-lt"/>
                <a:ea typeface="+mj-ea"/>
                <a:cs typeface="+mj-cs"/>
              </a:rPr>
              <a:t>Do More Paralogues Mean More Side Effects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674F7-8B68-D048-C0BB-B12FD05AE329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No clear Trend between the number of paralogues for a gene target and the number of Side effects reported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Correlation test did not yield a significant P value (p-value = 0.684)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F8A05-5D2A-EA5F-B916-088A40BDEA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336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A2E65-B529-9419-58C4-EE2575B3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52D860C-2289-47D1-A118-A3B5CF04EE39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7/30/2025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751F2-B00A-9A1E-612F-B9561A73C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A5350B-A8ED-4C36-B26C-7513F01B2B39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76714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50722-BC19-6295-8380-82BE54440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860C-2289-47D1-A118-A3B5CF04EE39}" type="datetime1">
              <a:rPr lang="en-GB" smtClean="0"/>
              <a:t>30/07/2025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C5DDA-C8BF-A7DA-79FC-2AB367D0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350B-A8ED-4C36-B26C-7513F01B2B39}" type="slidenum">
              <a:rPr lang="en-GB" smtClean="0"/>
              <a:t>32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7190B-CDBC-9D5F-C1B4-C4028DF8A300}"/>
              </a:ext>
            </a:extLst>
          </p:cNvPr>
          <p:cNvSpPr txBox="1"/>
          <p:nvPr/>
        </p:nvSpPr>
        <p:spPr>
          <a:xfrm>
            <a:off x="215757" y="339047"/>
            <a:ext cx="8743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Gene Essentiality and Paralogy Vs Drug Side Effect Burden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3255F-6FB3-9757-61C5-DAF478677F0B}"/>
              </a:ext>
            </a:extLst>
          </p:cNvPr>
          <p:cNvSpPr txBox="1"/>
          <p:nvPr/>
        </p:nvSpPr>
        <p:spPr>
          <a:xfrm>
            <a:off x="224671" y="1060992"/>
            <a:ext cx="52347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In essential Genes, paralogues might be protective ( Buffering effect)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In less essential genes, paralogues may increase risk of side effect due to off target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Explained by </a:t>
            </a:r>
            <a:r>
              <a:rPr lang="en-US" dirty="0">
                <a:solidFill>
                  <a:schemeClr val="bg1"/>
                </a:solidFill>
              </a:rPr>
              <a:t>drug development modalities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 essential genes, extreme specificity is crucial to avoid systemic toxicity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Less essential genes (SV, VP, VnP), the safety threshold is often less strict, which could increase the likelihood of off-target activity due to paralogues.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43995C-BA23-DFE8-1FBD-1C6C33BFC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777" y="1371600"/>
            <a:ext cx="6367552" cy="397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91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4A254-74AD-5FE2-24C0-3331F7EFD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Cautious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A92D0-7D04-B15E-99D9-20E47F89F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300" dirty="0"/>
              <a:t>The dataset is imbalanced, with limited representation for many drugs and genes</a:t>
            </a:r>
          </a:p>
          <a:p>
            <a:endParaRPr lang="en-US" sz="1300" dirty="0"/>
          </a:p>
          <a:p>
            <a:r>
              <a:rPr lang="en-US" sz="1300" dirty="0"/>
              <a:t>Information is limited to few drugs and genes , especially in the CL and DL categories.</a:t>
            </a:r>
          </a:p>
          <a:p>
            <a:endParaRPr lang="en-US" sz="1300" dirty="0"/>
          </a:p>
          <a:p>
            <a:r>
              <a:rPr lang="en-GB" sz="1300" dirty="0"/>
              <a:t>Tentative Insight: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300" dirty="0"/>
              <a:t>Within the VP (Viable with Phenotype) category, there appears to be a notable increase in side effects for drugs targeting genes with paralogues</a:t>
            </a:r>
          </a:p>
          <a:p>
            <a:pPr marL="914400" lvl="1" indent="-457200">
              <a:buFont typeface="+mj-lt"/>
              <a:buAutoNum type="arabicPeriod"/>
            </a:pPr>
            <a:endParaRPr lang="en-US" sz="1300" dirty="0"/>
          </a:p>
          <a:p>
            <a:pPr marL="914400" lvl="1" indent="-457200">
              <a:buFont typeface="+mj-lt"/>
              <a:buAutoNum type="arabicPeriod"/>
            </a:pPr>
            <a:r>
              <a:rPr lang="en-US" sz="1300" b="1" dirty="0"/>
              <a:t>Paralogous genes may contribute to broader pharmacological effects</a:t>
            </a:r>
            <a:r>
              <a:rPr lang="en-US" sz="1300" dirty="0"/>
              <a:t>, potentially increasing side effect burden</a:t>
            </a:r>
            <a:endParaRPr lang="en-GB" sz="1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7ACEA-CD75-BEFB-93B3-AC2419B817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802" y="6356350"/>
            <a:ext cx="281959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118066B-5604-4722-A335-20D4516053E9}" type="datetime1">
              <a:rPr lang="en-GB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30/07/2025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6" name="Picture 15" descr="Capsules and pills inside a glass bowl">
            <a:extLst>
              <a:ext uri="{FF2B5EF4-FFF2-40B4-BE49-F238E27FC236}">
                <a16:creationId xmlns:a16="http://schemas.microsoft.com/office/drawing/2014/main" id="{D37A35F2-F820-F1D6-5C01-B254164E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25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B4D43-C0CA-0A88-046A-17355E1B9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GB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33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857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B194-0313-6143-B9ED-74B74119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GB" sz="3200"/>
              <a:t>Future approaches</a:t>
            </a:r>
          </a:p>
        </p:txBody>
      </p:sp>
      <p:pic>
        <p:nvPicPr>
          <p:cNvPr id="8" name="Picture 7" descr="Magnifying glass showing decling performance">
            <a:extLst>
              <a:ext uri="{FF2B5EF4-FFF2-40B4-BE49-F238E27FC236}">
                <a16:creationId xmlns:a16="http://schemas.microsoft.com/office/drawing/2014/main" id="{CBBAA37E-6444-6764-0D0F-13112463D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71" r="31491" b="-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DDD910C-FCA1-6886-1053-77050A3FB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GB" sz="2000"/>
              <a:t>Statistical analyses to better interpret results</a:t>
            </a:r>
          </a:p>
          <a:p>
            <a:r>
              <a:rPr lang="en-GB" sz="2000"/>
              <a:t>Dissect the datasets and explore specific genes, disease areas, or essentiality categories</a:t>
            </a:r>
          </a:p>
          <a:p>
            <a:r>
              <a:rPr lang="en-GB" sz="2000"/>
              <a:t>Integrate other omics such as transcriptomics or proteomics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D62C4-FBC1-A3D7-C83A-3202C21432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118066B-5604-4722-A335-20D4516053E9}" type="datetime1">
              <a:rPr lang="en-GB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30/07/2025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18EC-78EE-EBEB-8A49-6585F9317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9A5350B-A8ED-4C36-B26C-7513F01B2B39}" type="slidenum">
              <a:rPr lang="en-GB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34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68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7593</TotalTime>
  <Words>2465</Words>
  <Application>Microsoft Office PowerPoint</Application>
  <PresentationFormat>Widescreen</PresentationFormat>
  <Paragraphs>346</Paragraphs>
  <Slides>34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quote-cjk-patch</vt:lpstr>
      <vt:lpstr>Office Theme</vt:lpstr>
      <vt:lpstr>Functional Genomics and Drug Targets: The Role of Paralogues and Essentiality in Drug Safety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Drug Targets &amp; Gene Essentiality</vt:lpstr>
      <vt:lpstr>Drug Databases Overview</vt:lpstr>
      <vt:lpstr>PowerPoint Presentation</vt:lpstr>
      <vt:lpstr>PowerPoint Presentation</vt:lpstr>
      <vt:lpstr>Drug Targeting by Disease Category</vt:lpstr>
      <vt:lpstr>PowerPoint Presentation</vt:lpstr>
      <vt:lpstr>PowerPoint Presentation</vt:lpstr>
      <vt:lpstr>PowerPoint Presentation</vt:lpstr>
      <vt:lpstr>Drug Targeting by Disease Category ( Function Applied)</vt:lpstr>
      <vt:lpstr>Paralogue Patterns Differ in Approved vs. Withdrawn Drugs?</vt:lpstr>
      <vt:lpstr>Withdrawn Drug Targets Within the FUSIL </vt:lpstr>
      <vt:lpstr>PowerPoint Presentation</vt:lpstr>
      <vt:lpstr>Paralogy alone is not a sufficient predictor of drug safety</vt:lpstr>
      <vt:lpstr>Indication Trends Across FUSIL Bins</vt:lpstr>
      <vt:lpstr>PowerPoint Presentation</vt:lpstr>
      <vt:lpstr>PowerPoint Presentation</vt:lpstr>
      <vt:lpstr>Psychiatric Disorder Drug Targets Cluster in Less Essential Genes</vt:lpstr>
      <vt:lpstr>Clozapine and Other CNS Drugs Show High Side Effect Counts</vt:lpstr>
      <vt:lpstr>Side Effect Burden Varies by Disease Area</vt:lpstr>
      <vt:lpstr>PowerPoint Presentation</vt:lpstr>
      <vt:lpstr>PowerPoint Presentation</vt:lpstr>
      <vt:lpstr>PowerPoint Presentation</vt:lpstr>
      <vt:lpstr>PowerPoint Presentation</vt:lpstr>
      <vt:lpstr>Cautious Interpretation</vt:lpstr>
      <vt:lpstr>Future approaches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 Kassir</dc:creator>
  <cp:lastModifiedBy>Hussein Kassir</cp:lastModifiedBy>
  <cp:revision>510</cp:revision>
  <dcterms:created xsi:type="dcterms:W3CDTF">2025-05-24T18:24:24Z</dcterms:created>
  <dcterms:modified xsi:type="dcterms:W3CDTF">2025-07-30T13:22:09Z</dcterms:modified>
</cp:coreProperties>
</file>